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h206c3751ecd5c305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h206c3751ecd5c305_0_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h206c3751ecd5c305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h206c3751ecd5c305_0_2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4E7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731520" y="1325880"/>
            <a:ext cx="1069848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Controle de uma Planta Pneumática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1F4E79"/>
                </a:solidFill>
                <a:latin typeface="Calibri"/>
                <a:ea typeface="Calibri"/>
                <a:cs typeface="Calibri"/>
                <a:sym typeface="Calibri"/>
              </a:rPr>
              <a:t>Identificação da planta e projeto de controlador PID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777246" y="3063250"/>
            <a:ext cx="6270900" cy="286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5F6973"/>
                </a:solidFill>
                <a:latin typeface="Calibri"/>
                <a:ea typeface="Calibri"/>
                <a:cs typeface="Calibri"/>
                <a:sym typeface="Calibri"/>
              </a:rPr>
              <a:t>Grupo 4</a:t>
            </a:r>
            <a:endParaRPr sz="18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5F6973"/>
                </a:solidFill>
                <a:latin typeface="Calibri"/>
                <a:ea typeface="Calibri"/>
                <a:cs typeface="Calibri"/>
                <a:sym typeface="Calibri"/>
              </a:rPr>
              <a:t>Base experimental: Pneumático_G4.mat</a:t>
            </a:r>
            <a:endParaRPr b="0" i="0" sz="2200" u="none" cap="none" strike="noStrike">
              <a:solidFill>
                <a:srgbClr val="5F697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rgbClr val="5F697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rgbClr val="5F697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5F6973"/>
                </a:solidFill>
                <a:latin typeface="Calibri"/>
                <a:ea typeface="Calibri"/>
                <a:cs typeface="Calibri"/>
                <a:sym typeface="Calibri"/>
              </a:rPr>
              <a:t>Equipe:</a:t>
            </a:r>
            <a:endParaRPr sz="2200">
              <a:solidFill>
                <a:srgbClr val="5F697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5F6973"/>
                </a:solidFill>
                <a:latin typeface="Calibri"/>
                <a:ea typeface="Calibri"/>
                <a:cs typeface="Calibri"/>
                <a:sym typeface="Calibri"/>
              </a:rPr>
              <a:t>Aline</a:t>
            </a:r>
            <a:endParaRPr sz="2200">
              <a:solidFill>
                <a:srgbClr val="5F697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5F6973"/>
                </a:solidFill>
                <a:latin typeface="Calibri"/>
                <a:ea typeface="Calibri"/>
                <a:cs typeface="Calibri"/>
                <a:sym typeface="Calibri"/>
              </a:rPr>
              <a:t>Isabel Mendes</a:t>
            </a:r>
            <a:endParaRPr sz="2200">
              <a:solidFill>
                <a:srgbClr val="5F697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5F6973"/>
                </a:solidFill>
                <a:latin typeface="Calibri"/>
                <a:ea typeface="Calibri"/>
                <a:cs typeface="Calibri"/>
                <a:sym typeface="Calibri"/>
              </a:rPr>
              <a:t>Natália</a:t>
            </a:r>
            <a:endParaRPr sz="2200">
              <a:solidFill>
                <a:srgbClr val="5F697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7" name="Google Shape;87;p13" title="image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84150" y="2697475"/>
            <a:ext cx="4539024" cy="39446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B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/>
          <p:nvPr/>
        </p:nvSpPr>
        <p:spPr>
          <a:xfrm>
            <a:off x="502920" y="274320"/>
            <a:ext cx="111556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1. Descrição da planta</a:t>
            </a:r>
            <a:endParaRPr/>
          </a:p>
        </p:txBody>
      </p:sp>
      <p:sp>
        <p:nvSpPr>
          <p:cNvPr id="93" name="Google Shape;93;p14"/>
          <p:cNvSpPr txBox="1"/>
          <p:nvPr/>
        </p:nvSpPr>
        <p:spPr>
          <a:xfrm>
            <a:off x="640075" y="1234450"/>
            <a:ext cx="7546500" cy="42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810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E2837"/>
              </a:buClr>
              <a:buSzPts val="2400"/>
              <a:buFont typeface="Calibri"/>
              <a:buChar char="●"/>
            </a:pPr>
            <a:r>
              <a:rPr b="0" i="0" lang="en-US" sz="2400" u="none" cap="none" strike="noStrike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A planta representa um processo pneumático no qual a potência aplicada ao motor do compressor altera a pressão do sistema.</a:t>
            </a:r>
            <a:endParaRPr sz="1900"/>
          </a:p>
          <a:p>
            <a:pPr indent="-3810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E2837"/>
              </a:buClr>
              <a:buSzPts val="2400"/>
              <a:buFont typeface="Calibri"/>
              <a:buChar char="●"/>
            </a:pPr>
            <a:r>
              <a:rPr b="0" i="0" lang="en-US" sz="2400" u="none" cap="none" strike="noStrike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A entrada experimental é um degrau de 0% para 50% de potência.</a:t>
            </a:r>
            <a:endParaRPr sz="1900"/>
          </a:p>
          <a:p>
            <a:pPr indent="-3810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E2837"/>
              </a:buClr>
              <a:buSzPts val="2400"/>
              <a:buFont typeface="Calibri"/>
              <a:buChar char="●"/>
            </a:pPr>
            <a:r>
              <a:rPr b="0" i="0" lang="en-US" sz="2400" u="none" cap="none" strike="noStrike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A saída medida é a pressão, expressa em bar.</a:t>
            </a:r>
            <a:endParaRPr sz="1900"/>
          </a:p>
          <a:p>
            <a:pPr indent="-3810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E2837"/>
              </a:buClr>
              <a:buSzPts val="2400"/>
              <a:buFont typeface="Calibri"/>
              <a:buChar char="●"/>
            </a:pPr>
            <a:r>
              <a:rPr b="0" i="0" lang="en-US" sz="2400" u="none" cap="none" strike="noStrike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O experimento possui 200 s de duração, com amostragem de 0,1 s.</a:t>
            </a:r>
            <a:endParaRPr sz="1900"/>
          </a:p>
          <a:p>
            <a:pPr indent="-3810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E2837"/>
              </a:buClr>
              <a:buSzPts val="2400"/>
              <a:buFont typeface="Calibri"/>
              <a:buChar char="●"/>
            </a:pPr>
            <a:r>
              <a:rPr b="0" i="0" lang="en-US" sz="2400" u="none" cap="none" strike="noStrike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O objetivo de controle é regular a pressão por meio do acionamento do motor.</a:t>
            </a:r>
            <a:endParaRPr sz="1900"/>
          </a:p>
        </p:txBody>
      </p:sp>
      <p:sp>
        <p:nvSpPr>
          <p:cNvPr id="94" name="Google Shape;94;p14"/>
          <p:cNvSpPr/>
          <p:nvPr/>
        </p:nvSpPr>
        <p:spPr>
          <a:xfrm>
            <a:off x="0" y="0"/>
            <a:ext cx="12191700" cy="201300"/>
          </a:xfrm>
          <a:prstGeom prst="rect">
            <a:avLst/>
          </a:prstGeom>
          <a:solidFill>
            <a:srgbClr val="1F4E79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5" name="Google Shape;95;p14"/>
          <p:cNvGrpSpPr/>
          <p:nvPr/>
        </p:nvGrpSpPr>
        <p:grpSpPr>
          <a:xfrm>
            <a:off x="8506636" y="1508760"/>
            <a:ext cx="3429120" cy="2697360"/>
            <a:chOff x="8506636" y="1508760"/>
            <a:chExt cx="3429120" cy="2697360"/>
          </a:xfrm>
        </p:grpSpPr>
        <p:sp>
          <p:nvSpPr>
            <p:cNvPr id="96" name="Google Shape;96;p14"/>
            <p:cNvSpPr/>
            <p:nvPr/>
          </p:nvSpPr>
          <p:spPr>
            <a:xfrm>
              <a:off x="8506636" y="1508760"/>
              <a:ext cx="1554600" cy="960000"/>
            </a:xfrm>
            <a:prstGeom prst="roundRect">
              <a:avLst>
                <a:gd fmla="val 16667" name="adj"/>
              </a:avLst>
            </a:prstGeom>
            <a:solidFill>
              <a:srgbClr val="666666"/>
            </a:solidFill>
            <a:ln cap="flat" cmpd="sng" w="9525">
              <a:solidFill>
                <a:srgbClr val="1F4E79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5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Potência</a:t>
              </a:r>
              <a:endParaRPr/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8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 → 50%</a:t>
              </a:r>
              <a:endParaRPr/>
            </a:p>
          </p:txBody>
        </p:sp>
        <p:sp>
          <p:nvSpPr>
            <p:cNvPr id="97" name="Google Shape;97;p14"/>
            <p:cNvSpPr/>
            <p:nvPr/>
          </p:nvSpPr>
          <p:spPr>
            <a:xfrm>
              <a:off x="10381156" y="1508760"/>
              <a:ext cx="1554600" cy="960000"/>
            </a:xfrm>
            <a:prstGeom prst="roundRect">
              <a:avLst>
                <a:gd fmla="val 16667" name="adj"/>
              </a:avLst>
            </a:prstGeom>
            <a:solidFill>
              <a:srgbClr val="5F6973"/>
            </a:solidFill>
            <a:ln cap="flat" cmpd="sng" w="9525">
              <a:solidFill>
                <a:srgbClr val="1F4E79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Motor /</a:t>
              </a:r>
              <a:endParaRPr/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Compressor</a:t>
              </a:r>
              <a:endParaRPr/>
            </a:p>
          </p:txBody>
        </p:sp>
        <p:sp>
          <p:nvSpPr>
            <p:cNvPr id="98" name="Google Shape;98;p14"/>
            <p:cNvSpPr/>
            <p:nvPr/>
          </p:nvSpPr>
          <p:spPr>
            <a:xfrm>
              <a:off x="10381156" y="3246120"/>
              <a:ext cx="1554600" cy="960000"/>
            </a:xfrm>
            <a:prstGeom prst="roundRect">
              <a:avLst>
                <a:gd fmla="val 16667" name="adj"/>
              </a:avLst>
            </a:prstGeom>
            <a:solidFill>
              <a:srgbClr val="5F6973"/>
            </a:solidFill>
            <a:ln cap="flat" cmpd="sng" w="9525">
              <a:solidFill>
                <a:srgbClr val="1F4E79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Pressão</a:t>
              </a:r>
              <a:endParaRPr/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(bar)</a:t>
              </a:r>
              <a:endParaRPr/>
            </a:p>
          </p:txBody>
        </p:sp>
        <p:sp>
          <p:nvSpPr>
            <p:cNvPr id="99" name="Google Shape;99;p14"/>
            <p:cNvSpPr/>
            <p:nvPr/>
          </p:nvSpPr>
          <p:spPr>
            <a:xfrm>
              <a:off x="8506636" y="3246120"/>
              <a:ext cx="1554600" cy="960000"/>
            </a:xfrm>
            <a:prstGeom prst="roundRect">
              <a:avLst>
                <a:gd fmla="val 16667" name="adj"/>
              </a:avLst>
            </a:prstGeom>
            <a:solidFill>
              <a:srgbClr val="5F6973"/>
            </a:solidFill>
            <a:ln cap="flat" cmpd="sng" w="9525">
              <a:solidFill>
                <a:srgbClr val="1F4E79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Sensor de</a:t>
              </a:r>
              <a:endParaRPr/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pressão</a:t>
              </a:r>
              <a:endParaRPr/>
            </a:p>
          </p:txBody>
        </p:sp>
        <p:cxnSp>
          <p:nvCxnSpPr>
            <p:cNvPr id="100" name="Google Shape;100;p14"/>
            <p:cNvCxnSpPr/>
            <p:nvPr/>
          </p:nvCxnSpPr>
          <p:spPr>
            <a:xfrm>
              <a:off x="10061116" y="1984248"/>
              <a:ext cx="320100" cy="0"/>
            </a:xfrm>
            <a:prstGeom prst="straightConnector1">
              <a:avLst/>
            </a:prstGeom>
            <a:noFill/>
            <a:ln cap="flat" cmpd="sng" w="25400">
              <a:solidFill>
                <a:srgbClr val="1F4E79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0000">
                <a:srgbClr val="000000">
                  <a:alpha val="38039"/>
                </a:srgbClr>
              </a:outerShdw>
            </a:effectLst>
          </p:spPr>
        </p:cxnSp>
        <p:cxnSp>
          <p:nvCxnSpPr>
            <p:cNvPr id="101" name="Google Shape;101;p14"/>
            <p:cNvCxnSpPr/>
            <p:nvPr/>
          </p:nvCxnSpPr>
          <p:spPr>
            <a:xfrm>
              <a:off x="11158396" y="2468880"/>
              <a:ext cx="0" cy="777300"/>
            </a:xfrm>
            <a:prstGeom prst="straightConnector1">
              <a:avLst/>
            </a:prstGeom>
            <a:noFill/>
            <a:ln cap="flat" cmpd="sng" w="25400">
              <a:solidFill>
                <a:srgbClr val="1F4E79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0000">
                <a:srgbClr val="000000">
                  <a:alpha val="38039"/>
                </a:srgbClr>
              </a:outerShdw>
            </a:effectLst>
          </p:spPr>
        </p:cxnSp>
        <p:cxnSp>
          <p:nvCxnSpPr>
            <p:cNvPr id="102" name="Google Shape;102;p14"/>
            <p:cNvCxnSpPr/>
            <p:nvPr/>
          </p:nvCxnSpPr>
          <p:spPr>
            <a:xfrm rot="10800000">
              <a:off x="10061056" y="3730752"/>
              <a:ext cx="320100" cy="0"/>
            </a:xfrm>
            <a:prstGeom prst="straightConnector1">
              <a:avLst/>
            </a:prstGeom>
            <a:noFill/>
            <a:ln cap="flat" cmpd="sng" w="25400">
              <a:solidFill>
                <a:srgbClr val="1F4E79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0000">
                <a:srgbClr val="000000">
                  <a:alpha val="38039"/>
                </a:srgbClr>
              </a:outerShdw>
            </a:effectLst>
          </p:spPr>
        </p:cxnSp>
        <p:cxnSp>
          <p:nvCxnSpPr>
            <p:cNvPr id="103" name="Google Shape;103;p14"/>
            <p:cNvCxnSpPr/>
            <p:nvPr/>
          </p:nvCxnSpPr>
          <p:spPr>
            <a:xfrm>
              <a:off x="9228371" y="2468880"/>
              <a:ext cx="0" cy="777300"/>
            </a:xfrm>
            <a:prstGeom prst="straightConnector1">
              <a:avLst/>
            </a:prstGeom>
            <a:noFill/>
            <a:ln cap="flat" cmpd="sng" w="25400">
              <a:solidFill>
                <a:srgbClr val="1F4E79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0000">
                <a:srgbClr val="000000">
                  <a:alpha val="38040"/>
                </a:srgbClr>
              </a:outerShdw>
            </a:effectLst>
          </p:spPr>
        </p:cxn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B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/>
        </p:nvSpPr>
        <p:spPr>
          <a:xfrm>
            <a:off x="502920" y="274320"/>
            <a:ext cx="11155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2. Dados experimentais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685925" y="6357090"/>
            <a:ext cx="1097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1F4E79"/>
                </a:solidFill>
                <a:latin typeface="Calibri"/>
                <a:ea typeface="Calibri"/>
                <a:cs typeface="Calibri"/>
                <a:sym typeface="Calibri"/>
              </a:rPr>
              <a:t>Entrada: 0 → 50% | Pressão inicial ≈ 0.61 bar | Pressão final ≈ 5.02 bar | ΔP ≈ 4.41 bar</a:t>
            </a:r>
            <a:endParaRPr sz="1800"/>
          </a:p>
        </p:txBody>
      </p:sp>
      <p:sp>
        <p:nvSpPr>
          <p:cNvPr id="110" name="Google Shape;110;p15"/>
          <p:cNvSpPr/>
          <p:nvPr/>
        </p:nvSpPr>
        <p:spPr>
          <a:xfrm>
            <a:off x="0" y="0"/>
            <a:ext cx="12191700" cy="201300"/>
          </a:xfrm>
          <a:prstGeom prst="rect">
            <a:avLst/>
          </a:prstGeom>
          <a:solidFill>
            <a:srgbClr val="1F4E79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1" name="Google Shape;111;p15" title="Unknow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13650" y="949920"/>
            <a:ext cx="8808420" cy="52547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B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6"/>
          <p:cNvSpPr txBox="1"/>
          <p:nvPr/>
        </p:nvSpPr>
        <p:spPr>
          <a:xfrm>
            <a:off x="502920" y="274320"/>
            <a:ext cx="111556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3. Variáveis de controle e operação</a:t>
            </a:r>
            <a:endParaRPr/>
          </a:p>
        </p:txBody>
      </p:sp>
      <p:sp>
        <p:nvSpPr>
          <p:cNvPr id="117" name="Google Shape;117;p16"/>
          <p:cNvSpPr txBox="1"/>
          <p:nvPr/>
        </p:nvSpPr>
        <p:spPr>
          <a:xfrm>
            <a:off x="434575" y="1234450"/>
            <a:ext cx="11086800" cy="49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Variável controlada (CV): pressão do sistema, em bar.</a:t>
            </a:r>
            <a:endParaRPr sz="2400"/>
          </a:p>
          <a:p>
            <a:pPr indent="0" lvl="0" marL="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Variável manipulada (MV): potência/comando aplicado ao motor do compressor, em %.</a:t>
            </a:r>
            <a:endParaRPr sz="2400"/>
          </a:p>
          <a:p>
            <a:pPr indent="0" lvl="0" marL="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Entrada do experimento: degrau de </a:t>
            </a:r>
            <a:r>
              <a:rPr b="1"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0% → 50%</a:t>
            </a: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2400"/>
          </a:p>
          <a:p>
            <a:pPr indent="0" lvl="0" marL="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Setpoint adotado para análise das respostas: 50 (referência escalada).</a:t>
            </a:r>
            <a:endParaRPr sz="2400"/>
          </a:p>
          <a:p>
            <a:pPr indent="0" lvl="0" marL="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Perturbações esperadas: consumo de ar, vazamentos, variação da carga, condições iniciais e variações de operação.</a:t>
            </a:r>
            <a:endParaRPr sz="2400"/>
          </a:p>
          <a:p>
            <a:pPr indent="0" lvl="0" marL="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Sensor principal: transmissor de pressão; para uma implementação real, podem ser adicionados sensor de rotação, temperatura e vazão.</a:t>
            </a:r>
            <a:endParaRPr sz="2400"/>
          </a:p>
        </p:txBody>
      </p:sp>
      <p:sp>
        <p:nvSpPr>
          <p:cNvPr id="118" name="Google Shape;118;p16"/>
          <p:cNvSpPr/>
          <p:nvPr/>
        </p:nvSpPr>
        <p:spPr>
          <a:xfrm>
            <a:off x="0" y="0"/>
            <a:ext cx="12191700" cy="201300"/>
          </a:xfrm>
          <a:prstGeom prst="rect">
            <a:avLst/>
          </a:prstGeom>
          <a:solidFill>
            <a:srgbClr val="1F4E79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B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502920" y="274320"/>
            <a:ext cx="111556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4. Identificação da planta</a:t>
            </a:r>
            <a:endParaRPr/>
          </a:p>
        </p:txBody>
      </p:sp>
      <p:sp>
        <p:nvSpPr>
          <p:cNvPr id="124" name="Google Shape;124;p17"/>
          <p:cNvSpPr txBox="1"/>
          <p:nvPr/>
        </p:nvSpPr>
        <p:spPr>
          <a:xfrm>
            <a:off x="7315200" y="1234440"/>
            <a:ext cx="4389000" cy="42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Método escolhido: </a:t>
            </a:r>
            <a:r>
              <a:rPr b="1"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Smith.</a:t>
            </a:r>
            <a:endParaRPr b="1" sz="2400"/>
          </a:p>
          <a:p>
            <a:pPr indent="0" lvl="0" marL="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Ganho estático K ≈ 0.088.</a:t>
            </a:r>
            <a:endParaRPr sz="2400"/>
          </a:p>
          <a:p>
            <a:pPr indent="0" lvl="0" marL="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Constante de tempo τ = 29.7 s.</a:t>
            </a:r>
            <a:endParaRPr sz="2400"/>
          </a:p>
          <a:p>
            <a:pPr indent="0" lvl="0" marL="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Tempo morto θ = 12.0 s.</a:t>
            </a:r>
            <a:endParaRPr sz="2400"/>
          </a:p>
          <a:p>
            <a:pPr indent="0" lvl="0" marL="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RMSE Smith = 0.147 bar.</a:t>
            </a:r>
            <a:endParaRPr sz="2400"/>
          </a:p>
          <a:p>
            <a:pPr indent="0" lvl="0" marL="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RMSE Sundaresan = 0.159 bar.</a:t>
            </a:r>
            <a:endParaRPr sz="2400"/>
          </a:p>
          <a:p>
            <a:pPr indent="0" lvl="0" marL="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Como o RMSE de Smith é menor, o modelo de Smith foi adotado.</a:t>
            </a:r>
            <a:endParaRPr sz="2400"/>
          </a:p>
        </p:txBody>
      </p:sp>
      <p:sp>
        <p:nvSpPr>
          <p:cNvPr id="125" name="Google Shape;125;p17"/>
          <p:cNvSpPr/>
          <p:nvPr/>
        </p:nvSpPr>
        <p:spPr>
          <a:xfrm>
            <a:off x="0" y="0"/>
            <a:ext cx="12191700" cy="201300"/>
          </a:xfrm>
          <a:prstGeom prst="rect">
            <a:avLst/>
          </a:prstGeom>
          <a:solidFill>
            <a:srgbClr val="1F4E79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6" name="Google Shape;126;p17" title="Unknown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12520"/>
            <a:ext cx="7010401" cy="39554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B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502920" y="274320"/>
            <a:ext cx="11155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5. Modelo FOPDT</a:t>
            </a:r>
            <a:endParaRPr/>
          </a:p>
        </p:txBody>
      </p:sp>
      <p:sp>
        <p:nvSpPr>
          <p:cNvPr id="132" name="Google Shape;132;p18"/>
          <p:cNvSpPr txBox="1"/>
          <p:nvPr/>
        </p:nvSpPr>
        <p:spPr>
          <a:xfrm>
            <a:off x="731520" y="1280160"/>
            <a:ext cx="10607100" cy="36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A planta foi aproximada por um modelo de primeira ordem com tempo morto (FOPDT).</a:t>
            </a:r>
            <a:endParaRPr sz="2400">
              <a:solidFill>
                <a:srgbClr val="1E283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1E283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Forma geral: </a:t>
            </a: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G(s) = [K * e^(-θs)] / [τs + 1]</a:t>
            </a:r>
            <a:endParaRPr sz="2400">
              <a:solidFill>
                <a:srgbClr val="1E283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1E283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Parâmetros identificados: K = 0.088, τ = 29.7 s e θ = 12.0 s.</a:t>
            </a:r>
            <a:endParaRPr sz="2400">
              <a:solidFill>
                <a:srgbClr val="1E283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1E283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Para a simulação computacional, o atraso foi aproximado por Padé de 1ª ordem.</a:t>
            </a:r>
            <a:endParaRPr sz="2400"/>
          </a:p>
        </p:txBody>
      </p:sp>
      <p:sp>
        <p:nvSpPr>
          <p:cNvPr id="133" name="Google Shape;133;p18"/>
          <p:cNvSpPr txBox="1"/>
          <p:nvPr/>
        </p:nvSpPr>
        <p:spPr>
          <a:xfrm>
            <a:off x="1005865" y="5851714"/>
            <a:ext cx="100584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F4E79"/>
                </a:solidFill>
                <a:latin typeface="Calibri"/>
                <a:ea typeface="Calibri"/>
                <a:cs typeface="Calibri"/>
                <a:sym typeface="Calibri"/>
              </a:rPr>
              <a:t>G(s) ≈ [0.088 · e^(−12s)] / [29.7s + 1]</a:t>
            </a:r>
            <a:endParaRPr/>
          </a:p>
        </p:txBody>
      </p:sp>
      <p:sp>
        <p:nvSpPr>
          <p:cNvPr id="134" name="Google Shape;134;p18"/>
          <p:cNvSpPr/>
          <p:nvPr/>
        </p:nvSpPr>
        <p:spPr>
          <a:xfrm>
            <a:off x="0" y="0"/>
            <a:ext cx="12191700" cy="201300"/>
          </a:xfrm>
          <a:prstGeom prst="rect">
            <a:avLst/>
          </a:prstGeom>
          <a:solidFill>
            <a:srgbClr val="1F4E79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B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9"/>
          <p:cNvSpPr txBox="1"/>
          <p:nvPr/>
        </p:nvSpPr>
        <p:spPr>
          <a:xfrm>
            <a:off x="502920" y="274320"/>
            <a:ext cx="111556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6. Malha aberta e malha fechada</a:t>
            </a:r>
            <a:endParaRPr/>
          </a:p>
        </p:txBody>
      </p:sp>
      <p:sp>
        <p:nvSpPr>
          <p:cNvPr id="140" name="Google Shape;140;p19"/>
          <p:cNvSpPr txBox="1"/>
          <p:nvPr/>
        </p:nvSpPr>
        <p:spPr>
          <a:xfrm>
            <a:off x="123888" y="4745025"/>
            <a:ext cx="11943900" cy="19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A realimentação permite comparar a saída com a referência.</a:t>
            </a:r>
            <a:endParaRPr sz="24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Sem controlador, a malha fechada baseada apenas na planta não elimina o erro estacionário.</a:t>
            </a:r>
            <a:endParaRPr sz="24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A análise motivou o projeto de um controlador PID.</a:t>
            </a:r>
            <a:endParaRPr sz="24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A simulação utiliza o modelo identificado, e não substitui a validação no equipamento real.</a:t>
            </a:r>
            <a:endParaRPr sz="2400"/>
          </a:p>
        </p:txBody>
      </p:sp>
      <p:sp>
        <p:nvSpPr>
          <p:cNvPr id="141" name="Google Shape;141;p19"/>
          <p:cNvSpPr/>
          <p:nvPr/>
        </p:nvSpPr>
        <p:spPr>
          <a:xfrm>
            <a:off x="0" y="0"/>
            <a:ext cx="12191700" cy="201300"/>
          </a:xfrm>
          <a:prstGeom prst="rect">
            <a:avLst/>
          </a:prstGeom>
          <a:solidFill>
            <a:srgbClr val="1F4E79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2" name="Google Shape;142;p19" title="Unknown-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33875" y="826700"/>
            <a:ext cx="8631675" cy="3678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B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/>
        </p:nvSpPr>
        <p:spPr>
          <a:xfrm>
            <a:off x="502920" y="274320"/>
            <a:ext cx="111556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7. Projeto do controlador PID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731520" y="1280160"/>
            <a:ext cx="10607100" cy="319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Foram avaliadas duas sintonia: IMC e CHR sem sobrevalor.</a:t>
            </a:r>
            <a:endParaRPr sz="2400"/>
          </a:p>
          <a:p>
            <a:pPr indent="0" lvl="0" marL="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PID–IMC: Kp = 25.31, Ti = 35.70 s, Td = 4.99 s.</a:t>
            </a:r>
            <a:endParaRPr sz="2400"/>
          </a:p>
          <a:p>
            <a:pPr indent="0" lvl="0" marL="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PID–CHR: Kp = 6.81, Ti = 12.00 s, Td = 6.00 s.</a:t>
            </a:r>
            <a:endParaRPr sz="2400"/>
          </a:p>
          <a:p>
            <a:pPr indent="0" lvl="0" marL="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No IMC foi adotado λ = 10 s.</a:t>
            </a:r>
            <a:endParaRPr sz="2400"/>
          </a:p>
          <a:p>
            <a:pPr indent="0" lvl="0" marL="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A comparação foi feita por resposta ao degrau.</a:t>
            </a:r>
            <a:endParaRPr sz="2400"/>
          </a:p>
        </p:txBody>
      </p:sp>
      <p:sp>
        <p:nvSpPr>
          <p:cNvPr id="149" name="Google Shape;149;p20"/>
          <p:cNvSpPr/>
          <p:nvPr/>
        </p:nvSpPr>
        <p:spPr>
          <a:xfrm>
            <a:off x="0" y="0"/>
            <a:ext cx="12191700" cy="201300"/>
          </a:xfrm>
          <a:prstGeom prst="rect">
            <a:avLst/>
          </a:prstGeom>
          <a:solidFill>
            <a:srgbClr val="1F4E79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B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/>
        </p:nvSpPr>
        <p:spPr>
          <a:xfrm>
            <a:off x="502920" y="274320"/>
            <a:ext cx="111556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8. Comparação dos controladores</a:t>
            </a:r>
            <a:endParaRPr/>
          </a:p>
        </p:txBody>
      </p:sp>
      <p:sp>
        <p:nvSpPr>
          <p:cNvPr id="155" name="Google Shape;155;p21"/>
          <p:cNvSpPr txBox="1"/>
          <p:nvPr/>
        </p:nvSpPr>
        <p:spPr>
          <a:xfrm>
            <a:off x="7360925" y="1234450"/>
            <a:ext cx="4589700" cy="45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IMC: resposta converge para a referência de 50.</a:t>
            </a:r>
            <a:endParaRPr sz="24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CHR: apresenta sobre-elevação na simulação obtida com os parâmetros.</a:t>
            </a:r>
            <a:endParaRPr sz="24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Erro final estimado: IMC ≈ 0.000; CHR ≈ 0.011.</a:t>
            </a:r>
            <a:endParaRPr sz="24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A escolha final considera estabilidade, tempo de acomodação, sobre-elevação e robustez.</a:t>
            </a:r>
            <a:endParaRPr sz="2400"/>
          </a:p>
        </p:txBody>
      </p:sp>
      <p:sp>
        <p:nvSpPr>
          <p:cNvPr id="156" name="Google Shape;156;p21"/>
          <p:cNvSpPr/>
          <p:nvPr/>
        </p:nvSpPr>
        <p:spPr>
          <a:xfrm>
            <a:off x="0" y="0"/>
            <a:ext cx="12191700" cy="201300"/>
          </a:xfrm>
          <a:prstGeom prst="rect">
            <a:avLst/>
          </a:prstGeom>
          <a:solidFill>
            <a:srgbClr val="1F4E79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7" name="Google Shape;157;p21" title="Unknown-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12525"/>
            <a:ext cx="5934699" cy="4704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B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2"/>
          <p:cNvSpPr txBox="1"/>
          <p:nvPr/>
        </p:nvSpPr>
        <p:spPr>
          <a:xfrm>
            <a:off x="502920" y="274320"/>
            <a:ext cx="111556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9. Sensores e atuadores para uma implementação real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685800" y="1234450"/>
            <a:ext cx="11223900" cy="54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810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E2837"/>
              </a:buClr>
              <a:buSzPts val="2400"/>
              <a:buFont typeface="Calibri"/>
              <a:buAutoNum type="arabicPeriod"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Sensor de pressão / transmissor 4–20 mA ou 0–10 V: realimentação principal da malha.</a:t>
            </a:r>
            <a:endParaRPr sz="2400"/>
          </a:p>
          <a:p>
            <a:pPr indent="-3810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E2837"/>
              </a:buClr>
              <a:buSzPts val="2400"/>
              <a:buFont typeface="Calibri"/>
              <a:buAutoNum type="arabicPeriod"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Sensor de rotação (encoder ou Hall): monitoramento da velocidade do motor.</a:t>
            </a:r>
            <a:endParaRPr sz="2400"/>
          </a:p>
          <a:p>
            <a:pPr indent="-3810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E2837"/>
              </a:buClr>
              <a:buSzPts val="2400"/>
              <a:buFont typeface="Calibri"/>
              <a:buAutoNum type="arabicPeriod"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Sensor de temperatura: proteção térmica do compressor/motor.</a:t>
            </a:r>
            <a:endParaRPr sz="2400"/>
          </a:p>
          <a:p>
            <a:pPr indent="-3810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E2837"/>
              </a:buClr>
              <a:buSzPts val="2400"/>
              <a:buFont typeface="Calibri"/>
              <a:buAutoNum type="arabicPeriod"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Sensor de vazão: acompanhamento do consumo e identificação de condições anormais.</a:t>
            </a:r>
            <a:endParaRPr sz="2400"/>
          </a:p>
          <a:p>
            <a:pPr indent="-3810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E2837"/>
              </a:buClr>
              <a:buSzPts val="2400"/>
              <a:buFont typeface="Calibri"/>
              <a:buAutoNum type="arabicPeriod"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Atuador: acionamento de potência do motor; conforme o motor, pode ser inversor de frequência, controlador eletrônico ou outro estágio de potência.</a:t>
            </a:r>
            <a:endParaRPr sz="2400"/>
          </a:p>
          <a:p>
            <a:pPr indent="-3810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E2837"/>
              </a:buClr>
              <a:buSzPts val="2400"/>
              <a:buFont typeface="Calibri"/>
              <a:buAutoNum type="arabicPeriod"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Proteções recomendadas: válvula de segurança, pressostato de alta pressão e parada de emergência.</a:t>
            </a:r>
            <a:endParaRPr sz="2400"/>
          </a:p>
        </p:txBody>
      </p:sp>
      <p:sp>
        <p:nvSpPr>
          <p:cNvPr id="164" name="Google Shape;164;p22"/>
          <p:cNvSpPr/>
          <p:nvPr/>
        </p:nvSpPr>
        <p:spPr>
          <a:xfrm>
            <a:off x="0" y="0"/>
            <a:ext cx="12191700" cy="201300"/>
          </a:xfrm>
          <a:prstGeom prst="rect">
            <a:avLst/>
          </a:prstGeom>
          <a:solidFill>
            <a:srgbClr val="1F4E79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B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3"/>
          <p:cNvSpPr txBox="1"/>
          <p:nvPr/>
        </p:nvSpPr>
        <p:spPr>
          <a:xfrm>
            <a:off x="502920" y="274320"/>
            <a:ext cx="111556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10. Conclusões</a:t>
            </a:r>
            <a:endParaRPr/>
          </a:p>
        </p:txBody>
      </p:sp>
      <p:sp>
        <p:nvSpPr>
          <p:cNvPr id="170" name="Google Shape;170;p23"/>
          <p:cNvSpPr txBox="1"/>
          <p:nvPr/>
        </p:nvSpPr>
        <p:spPr>
          <a:xfrm>
            <a:off x="731525" y="1234450"/>
            <a:ext cx="11273400" cy="49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Os dados experimentais caracterizam um processo em que a potência do motor atua sobre a pressão do sistema.</a:t>
            </a:r>
            <a:endParaRPr sz="2400"/>
          </a:p>
          <a:p>
            <a:pPr indent="0" lvl="0" marL="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O degrau de 0% → 50% elevou a pressão de aproximadamente 0.61 bar para 5.02 bar.</a:t>
            </a:r>
            <a:endParaRPr sz="2400"/>
          </a:p>
          <a:p>
            <a:pPr indent="0" lvl="0" marL="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O modelo FOPDT identificado por Smith apresentou K = 0.088, τ = 29.7 s e θ = 12.0 s.</a:t>
            </a:r>
            <a:endParaRPr sz="2400"/>
          </a:p>
          <a:p>
            <a:pPr indent="0" lvl="0" marL="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O modelo foi utilizado para analisar a malha e projetar controladores PID por IMC e CHR.</a:t>
            </a:r>
            <a:endParaRPr sz="2400"/>
          </a:p>
          <a:p>
            <a:pPr indent="0" lvl="0" marL="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E2837"/>
                </a:solidFill>
                <a:latin typeface="Calibri"/>
                <a:ea typeface="Calibri"/>
                <a:cs typeface="Calibri"/>
                <a:sym typeface="Calibri"/>
              </a:rPr>
              <a:t>A simulação indica que o PID–IMC apresenta comportamento mais adequado para a referência adotada, enquanto o CHR apresenta sobre-elevação.</a:t>
            </a:r>
            <a:endParaRPr sz="2400"/>
          </a:p>
          <a:p>
            <a:pPr indent="0" lvl="0" marL="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