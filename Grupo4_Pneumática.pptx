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696d2952387808ed_0_30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h696d2952387808ed_0_3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Descrever o funcionamento da planta e enfatizar que a grandeza medida é a pressão. O equipamento pode incluir cilindro pneumático, mas o dataset não registra sua posição.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Apresentação de origem, slides 1–2.</a:t>
            </a:r>
            <a:br>
              <a:rPr lang="en-US"/>
            </a:br>
            <a:r>
              <a:rPr lang="en-US"/>
              <a:t>- Trabalho prático de Sistemas Embarcados, seção 9, parte teórica, item 1.</a:t>
            </a:r>
            <a:endParaRPr/>
          </a:p>
        </p:txBody>
      </p:sp>
      <p:sp>
        <p:nvSpPr>
          <p:cNvPr id="91" name="Google Shape;91;h696d2952387808ed_0_3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696d2952387808ed_0_0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h696d2952387808ed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Distinguir medição utilizada no controle dos sensores auxiliares e das proteções físicas. As opções representam instrumentação de um desenvolvimento real, não componentes verificados no ensaio.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Apresentação de origem, slide 17.</a:t>
            </a:r>
            <a:br>
              <a:rPr lang="en-US"/>
            </a:br>
            <a:r>
              <a:rPr lang="en-US"/>
              <a:t>- Trabalho prático, seção 9, parte teórica, item 1.</a:t>
            </a:r>
            <a:endParaRPr/>
          </a:p>
        </p:txBody>
      </p:sp>
      <p:sp>
        <p:nvSpPr>
          <p:cNvPr id="117" name="Google Shape;117;h696d2952387808ed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696d2952387808ed_0_62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h696d2952387808ed_0_6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setpoint não é necessariamente o valor de amplitude do degrau aplicado na etapa de identificação. Distinguir entrada manipulada de referência de pressão.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Apresentação de origem, slide 4.</a:t>
            </a:r>
            <a:br>
              <a:rPr lang="en-US"/>
            </a:br>
            <a:r>
              <a:rPr lang="en-US"/>
              <a:t>- Trabalho prático, seção 9, parte teórica, item 2.</a:t>
            </a:r>
            <a:endParaRPr/>
          </a:p>
        </p:txBody>
      </p:sp>
      <p:sp>
        <p:nvSpPr>
          <p:cNvPr id="140" name="Google Shape;140;h696d2952387808ed_0_6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206c3751ecd5c30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h206c3751ecd5c305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46d143b0b74216d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h46d143b0b74216d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46d143b0b74216d3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46d143b0b74216d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46d143b0b74216d3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h46d143b0b74216d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46d143b0b74216d3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h46d143b0b74216d3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46d143b0b74216d3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h46d143b0b74216d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46d143b0b74216d3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h46d143b0b74216d3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46d143b0b74216d3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h46d143b0b74216d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46d143b0b74216d3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h46d143b0b74216d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h46d143b0b74216d3_0_170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h46d143b0b74216d3_0_17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Padé de primeira ordem para theta=12: (1−6s)/(1+6s); multiplicação algébrica e reescalonamento por 6. Pequeno undershoot inicial pode ser artefato da aproximação.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Trabalho prático, seção 5.1, página 4.</a:t>
            </a:r>
            <a:br>
              <a:rPr lang="en-US"/>
            </a:br>
            <a:r>
              <a:rPr lang="en-US"/>
              <a:t>- Apresentação de origem, slide 8.</a:t>
            </a:r>
            <a:endParaRPr/>
          </a:p>
        </p:txBody>
      </p:sp>
      <p:sp>
        <p:nvSpPr>
          <p:cNvPr id="308" name="Google Shape;308;h46d143b0b74216d3_0_17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h46d143b0b74216d3_0_189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h46d143b0b74216d3_0_18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Malha aberta H(s), fechada com realimentação unitária H/(1+H). O sistema sem componente integral mantém diferença estática frente à referência.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Trabalho prático, seção 4, página 3.</a:t>
            </a:r>
            <a:br>
              <a:rPr lang="en-US"/>
            </a:br>
            <a:r>
              <a:rPr lang="en-US"/>
              <a:t>- Apresentação de origem, slide 9.</a:t>
            </a:r>
            <a:endParaRPr/>
          </a:p>
        </p:txBody>
      </p:sp>
      <p:sp>
        <p:nvSpPr>
          <p:cNvPr id="322" name="Google Shape;322;h46d143b0b74216d3_0_18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h46d143b0b74216d3_0_209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h46d143b0b74216d3_0_20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Valores de step_info da planta sem PID fornecidos nos slides 10 e 11 originais. O valor final reflete excitação simulada de amplitude 50 e não corresponde a SP físico de 50 bar.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Apresentação de origem, slides 9–11.</a:t>
            </a:r>
            <a:br>
              <a:rPr lang="en-US"/>
            </a:br>
            <a:r>
              <a:rPr lang="en-US"/>
              <a:t>- Trabalho prático, seção 9, parte prática, item 4.</a:t>
            </a:r>
            <a:endParaRPr/>
          </a:p>
        </p:txBody>
      </p:sp>
      <p:sp>
        <p:nvSpPr>
          <p:cNvPr id="338" name="Google Shape;338;h46d143b0b74216d3_0_20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46d143b0b74216d3_0_243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h46d143b0b74216d3_0_24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a forma exata do PID usada no projeto: Kp (1+ 1/(Ti s) + Td s), com numerador equivalente KpTd s2+Kp s+Kp/Ti.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Trabalho prático, equação 8, página 7.</a:t>
            </a:r>
            <a:endParaRPr/>
          </a:p>
        </p:txBody>
      </p:sp>
      <p:sp>
        <p:nvSpPr>
          <p:cNvPr id="368" name="Google Shape;368;h46d143b0b74216d3_0_24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h46d143b0b74216d3_0_267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h46d143b0b74216d3_0_26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Lambda/θ&gt;0,8 segundo tabela IMC, portanto lambda mínimo 9,6 s; escolha 10 s. A estimativa ts≈4lambda é de projeto, simulação retorna valor próximo 44s.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Trabalho prático, seção 7.2 e Tabela 2, página 7.</a:t>
            </a:r>
            <a:br>
              <a:rPr lang="en-US"/>
            </a:br>
            <a:r>
              <a:rPr lang="en-US"/>
              <a:t>- Apresentação de origem, slide 12.</a:t>
            </a:r>
            <a:endParaRPr/>
          </a:p>
        </p:txBody>
      </p:sp>
      <p:sp>
        <p:nvSpPr>
          <p:cNvPr id="388" name="Google Shape;388;h46d143b0b74216d3_0_26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h46d143b0b74216d3_0_285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h46d143b0b74216d3_0_28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fórmulas devem manter exatamente a Tabela 2: Kp=(2τ+θ)/(k(2λ+θ)), Ti=τ+θ/2, Td=τθ/(2τ+θ). Na apresentação original as expressões de Ti e Td estavam grafadas incorretamente apesar dos resultados numéricos; aqui foram corrigidas.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Trabalho prático, Tabela 2, página 7.</a:t>
            </a:r>
            <a:br>
              <a:rPr lang="en-US"/>
            </a:br>
            <a:r>
              <a:rPr lang="en-US"/>
              <a:t>- Notebook SistemasEmbarcados(5).ipynb, célula 32.</a:t>
            </a:r>
            <a:endParaRPr/>
          </a:p>
        </p:txBody>
      </p:sp>
      <p:sp>
        <p:nvSpPr>
          <p:cNvPr id="402" name="Google Shape;402;h46d143b0b74216d3_0_28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h46d143b0b74216d3_0_304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h46d143b0b74216d3_0_30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valores devem ser calculados da Tabela 3 (CHR sem sobrevalor) do trabalho. Na apresentação original apareciam Kp=6,81 e Ti=12 s, incompatíveis com o método indicado.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Trabalho prático, Tabela 3, página 8.</a:t>
            </a:r>
            <a:br>
              <a:rPr lang="en-US"/>
            </a:br>
            <a:r>
              <a:rPr lang="en-US"/>
              <a:t>- Notebook SistemasEmbarcados(5).ipynb, célula 39.</a:t>
            </a:r>
            <a:endParaRPr/>
          </a:p>
        </p:txBody>
      </p:sp>
      <p:sp>
        <p:nvSpPr>
          <p:cNvPr id="417" name="Google Shape;417;h46d143b0b74216d3_0_30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h46d143b0b74216d3_0_323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h46d143b0b74216d3_0_32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Gráfico gerado com as funções de transferência da planta identificada por Smith, Padé ordem 1, PID ideal e realimentação unitária, após correção dos parâmetros IMC e CHR. O undershoot inicial é resultante da aproximação Padé com derivada ideal; requer implementação com limites e filtro.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Trabalho prático, Tabelas 2 e 3, páginas 7–8.</a:t>
            </a:r>
            <a:br>
              <a:rPr lang="en-US"/>
            </a:br>
            <a:r>
              <a:rPr lang="en-US"/>
              <a:t>- Apresentação de origem, slides 12–16.</a:t>
            </a:r>
            <a:endParaRPr/>
          </a:p>
        </p:txBody>
      </p:sp>
      <p:sp>
        <p:nvSpPr>
          <p:cNvPr id="432" name="Google Shape;432;h46d143b0b74216d3_0_32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h46d143b0b74216d3_0_369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h46d143b0b74216d3_0_36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Critério do grupo 4 é menor tempo de resposta. Em malha fechada com PID recalculado e Padé 1: IMC tr≈21,97, ts≈43,83, Mp=0; CHR tr≈34,91, ts≈103,73, Mp≈2,55. O CHR pode apresentar pequeno sobressinal embora o nome da regra seja CHR sem sobrevalor.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Trabalho prático, seção 9, Tabelas 7 e 8 (Grupo 4), página 11.</a:t>
            </a:r>
            <a:br>
              <a:rPr lang="en-US"/>
            </a:br>
            <a:r>
              <a:rPr lang="en-US"/>
              <a:t>- Cálculo efetuado a partir de H(s), Tabela 2 e Tabela 3.</a:t>
            </a:r>
            <a:endParaRPr/>
          </a:p>
        </p:txBody>
      </p:sp>
      <p:sp>
        <p:nvSpPr>
          <p:cNvPr id="450" name="Google Shape;450;h46d143b0b74216d3_0_36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h46d143b0b74216d3_0_402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h46d143b0b74216d3_0_40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implementação existente no arquivo interface(4).py apresenta abas de identificação, controle e comparação, campos de parâmetros, seleção de métodos e exportação. Não confundir o diagrama do slide com uma captura real de tela.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interface(4).py, componente Tkinter/Matplotlib.</a:t>
            </a:r>
            <a:br>
              <a:rPr lang="en-US"/>
            </a:br>
            <a:r>
              <a:rPr lang="en-US"/>
              <a:t>- Trabalho prático, seção 8 e seção 9, parte prática, item 7.</a:t>
            </a:r>
            <a:endParaRPr/>
          </a:p>
        </p:txBody>
      </p:sp>
      <p:sp>
        <p:nvSpPr>
          <p:cNvPr id="473" name="Google Shape;473;h46d143b0b74216d3_0_40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h696d2952387808ed_13_24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h696d2952387808ed_13_2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implementação existente no arquivo interface(4).py apresenta abas de identificação, controle e comparação, campos de parâmetros, seleção de métodos e exportação. Não confundir o diagrama do slide com uma captura real de tela.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interface(4).py, componente Tkinter/Matplotlib.</a:t>
            </a:r>
            <a:br>
              <a:rPr lang="en-US"/>
            </a:br>
            <a:r>
              <a:rPr lang="en-US"/>
              <a:t>- Trabalho prático, seção 8 e seção 9, parte prática, item 7.</a:t>
            </a:r>
            <a:endParaRPr/>
          </a:p>
        </p:txBody>
      </p:sp>
      <p:sp>
        <p:nvSpPr>
          <p:cNvPr id="498" name="Google Shape;498;h696d2952387808ed_13_2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5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5" Type="http://schemas.openxmlformats.org/officeDocument/2006/relationships/image" Target="../media/image3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image" Target="../media/image4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32.png"/><Relationship Id="rId5" Type="http://schemas.openxmlformats.org/officeDocument/2006/relationships/image" Target="../media/image4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731520" y="132588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E2837"/>
                </a:solidFill>
                <a:latin typeface="Calibri"/>
                <a:ea typeface="Calibri"/>
                <a:cs typeface="Calibri"/>
                <a:sym typeface="Calibri"/>
              </a:rPr>
              <a:t>Controle de uma Planta Pneumática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Identificação da planta e projeto de controlador PID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777246" y="3063250"/>
            <a:ext cx="62709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Grupo 4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Base experimental: Pneumático_G4.mat</a:t>
            </a:r>
            <a:endParaRPr b="0" i="0" sz="22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Equipe: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Aline dos Santos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Isabel Mendes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Natália Batista</a:t>
            </a:r>
            <a:endParaRPr b="1"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/>
          <p:nvPr/>
        </p:nvSpPr>
        <p:spPr>
          <a:xfrm>
            <a:off x="0" y="0"/>
            <a:ext cx="121917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530338" y="484632"/>
            <a:ext cx="111189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1. Descrição do processo pneumático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5"/>
          <p:cNvCxnSpPr/>
          <p:nvPr/>
        </p:nvCxnSpPr>
        <p:spPr>
          <a:xfrm>
            <a:off x="530338" y="1019556"/>
            <a:ext cx="111372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15"/>
          <p:cNvSpPr/>
          <p:nvPr/>
        </p:nvSpPr>
        <p:spPr>
          <a:xfrm>
            <a:off x="658350" y="1234440"/>
            <a:ext cx="108354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O processo é caracterizado pela relação entre o comando de potência do motor do compressor e a pressão desenvolvida no circuito pneumático.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658350" y="4578524"/>
            <a:ext cx="2151300" cy="896400"/>
          </a:xfrm>
          <a:prstGeom prst="roundRect">
            <a:avLst>
              <a:gd fmla="val 8772" name="adj"/>
            </a:avLst>
          </a:prstGeom>
          <a:solidFill>
            <a:srgbClr val="F5F8FA"/>
          </a:solidFill>
          <a:ln cap="flat" cmpd="sng" w="11950">
            <a:solidFill>
              <a:srgbClr val="B5C7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050" lIns="86050" spcFirstLastPara="1" rIns="86050" wrap="square" tIns="8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744401" y="4666024"/>
            <a:ext cx="21513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Comando do motor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658351" y="5053274"/>
            <a:ext cx="21513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E80"/>
              </a:buClr>
              <a:buSzPts val="1318"/>
              <a:buFont typeface="Calibri"/>
              <a:buNone/>
            </a:pPr>
            <a:r>
              <a:rPr b="0" i="0" lang="en-US" sz="1318" u="none" cap="none" strike="noStrike">
                <a:solidFill>
                  <a:srgbClr val="566E80"/>
                </a:solidFill>
                <a:latin typeface="Calibri"/>
                <a:ea typeface="Calibri"/>
                <a:cs typeface="Calibri"/>
                <a:sym typeface="Calibri"/>
              </a:rPr>
              <a:t>Potência (%)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5"/>
          <p:cNvCxnSpPr/>
          <p:nvPr/>
        </p:nvCxnSpPr>
        <p:spPr>
          <a:xfrm>
            <a:off x="2952578" y="4984429"/>
            <a:ext cx="327000" cy="0"/>
          </a:xfrm>
          <a:prstGeom prst="straightConnector1">
            <a:avLst/>
          </a:prstGeom>
          <a:noFill/>
          <a:ln cap="flat" cmpd="sng" w="23900">
            <a:solidFill>
              <a:srgbClr val="1B4B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" name="Google Shape;101;p15"/>
          <p:cNvSpPr/>
          <p:nvPr/>
        </p:nvSpPr>
        <p:spPr>
          <a:xfrm>
            <a:off x="3422850" y="4586449"/>
            <a:ext cx="2452500" cy="896400"/>
          </a:xfrm>
          <a:prstGeom prst="roundRect">
            <a:avLst>
              <a:gd fmla="val 8772" name="adj"/>
            </a:avLst>
          </a:prstGeom>
          <a:solidFill>
            <a:srgbClr val="F5F8FA"/>
          </a:solidFill>
          <a:ln cap="flat" cmpd="sng" w="11950">
            <a:solidFill>
              <a:srgbClr val="B5C7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050" lIns="86050" spcFirstLastPara="1" rIns="86050" wrap="square" tIns="8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3422502" y="4674049"/>
            <a:ext cx="23664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Compressor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422502" y="5061299"/>
            <a:ext cx="23664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E80"/>
              </a:buClr>
              <a:buSzPts val="1318"/>
              <a:buFont typeface="Calibri"/>
              <a:buNone/>
            </a:pPr>
            <a:r>
              <a:rPr b="0" i="0" lang="en-US" sz="1318" u="none" cap="none" strike="noStrike">
                <a:solidFill>
                  <a:srgbClr val="566E80"/>
                </a:solidFill>
                <a:latin typeface="Calibri"/>
                <a:ea typeface="Calibri"/>
                <a:cs typeface="Calibri"/>
                <a:sym typeface="Calibri"/>
              </a:rPr>
              <a:t>Geração de ar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15"/>
          <p:cNvCxnSpPr/>
          <p:nvPr/>
        </p:nvCxnSpPr>
        <p:spPr>
          <a:xfrm>
            <a:off x="6033862" y="4984429"/>
            <a:ext cx="111900" cy="0"/>
          </a:xfrm>
          <a:prstGeom prst="straightConnector1">
            <a:avLst/>
          </a:prstGeom>
          <a:noFill/>
          <a:ln cap="flat" cmpd="sng" w="23900">
            <a:solidFill>
              <a:srgbClr val="1B4B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" name="Google Shape;105;p15"/>
          <p:cNvSpPr/>
          <p:nvPr/>
        </p:nvSpPr>
        <p:spPr>
          <a:xfrm>
            <a:off x="6419575" y="4568224"/>
            <a:ext cx="2366400" cy="906600"/>
          </a:xfrm>
          <a:prstGeom prst="roundRect">
            <a:avLst>
              <a:gd fmla="val 8772" name="adj"/>
            </a:avLst>
          </a:prstGeom>
          <a:solidFill>
            <a:srgbClr val="F5F8FA"/>
          </a:solidFill>
          <a:ln cap="flat" cmpd="sng" w="11950">
            <a:solidFill>
              <a:srgbClr val="B5C7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050" lIns="86050" spcFirstLastPara="1" rIns="86050" wrap="square" tIns="8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8"/>
          </a:p>
        </p:txBody>
      </p:sp>
      <p:sp>
        <p:nvSpPr>
          <p:cNvPr id="106" name="Google Shape;106;p15"/>
          <p:cNvSpPr/>
          <p:nvPr/>
        </p:nvSpPr>
        <p:spPr>
          <a:xfrm>
            <a:off x="6432573" y="4666024"/>
            <a:ext cx="22803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Circuito pneumático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6303452" y="5053274"/>
            <a:ext cx="22803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E80"/>
              </a:buClr>
              <a:buSzPts val="1318"/>
              <a:buFont typeface="Calibri"/>
              <a:buNone/>
            </a:pPr>
            <a:r>
              <a:rPr b="0" i="0" lang="en-US" sz="1318" u="none" cap="none" strike="noStrike">
                <a:solidFill>
                  <a:srgbClr val="566E80"/>
                </a:solidFill>
                <a:latin typeface="Calibri"/>
                <a:ea typeface="Calibri"/>
                <a:cs typeface="Calibri"/>
                <a:sym typeface="Calibri"/>
              </a:rPr>
              <a:t>Reservatório / linha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15"/>
          <p:cNvCxnSpPr/>
          <p:nvPr/>
        </p:nvCxnSpPr>
        <p:spPr>
          <a:xfrm>
            <a:off x="8834223" y="4984429"/>
            <a:ext cx="86100" cy="0"/>
          </a:xfrm>
          <a:prstGeom prst="straightConnector1">
            <a:avLst/>
          </a:prstGeom>
          <a:noFill/>
          <a:ln cap="flat" cmpd="sng" w="23900">
            <a:solidFill>
              <a:srgbClr val="1B4B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" name="Google Shape;109;p15"/>
          <p:cNvSpPr/>
          <p:nvPr/>
        </p:nvSpPr>
        <p:spPr>
          <a:xfrm>
            <a:off x="9142925" y="4568324"/>
            <a:ext cx="1848300" cy="906600"/>
          </a:xfrm>
          <a:prstGeom prst="roundRect">
            <a:avLst>
              <a:gd fmla="val 8772" name="adj"/>
            </a:avLst>
          </a:prstGeom>
          <a:solidFill>
            <a:srgbClr val="EDF3F7"/>
          </a:solidFill>
          <a:ln cap="flat" cmpd="sng" w="11950">
            <a:solidFill>
              <a:srgbClr val="B5C7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050" lIns="86050" spcFirstLastPara="1" rIns="86050" wrap="square" tIns="8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8"/>
          </a:p>
        </p:txBody>
      </p:sp>
      <p:sp>
        <p:nvSpPr>
          <p:cNvPr id="110" name="Google Shape;110;p15"/>
          <p:cNvSpPr/>
          <p:nvPr/>
        </p:nvSpPr>
        <p:spPr>
          <a:xfrm>
            <a:off x="9142933" y="4666024"/>
            <a:ext cx="17556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Saída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9142933" y="5053274"/>
            <a:ext cx="17556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E80"/>
              </a:buClr>
              <a:buSzPts val="1318"/>
              <a:buFont typeface="Calibri"/>
              <a:buNone/>
            </a:pPr>
            <a:r>
              <a:rPr b="0" i="0" lang="en-US" sz="1318" u="none" cap="none" strike="noStrike">
                <a:solidFill>
                  <a:srgbClr val="566E80"/>
                </a:solidFill>
                <a:latin typeface="Calibri"/>
                <a:ea typeface="Calibri"/>
                <a:cs typeface="Calibri"/>
                <a:sym typeface="Calibri"/>
              </a:rPr>
              <a:t>Pressão (bar)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17244" y="5669325"/>
            <a:ext cx="109176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O sensor de pressão fornece a variável medida para a malha de realimentação. O banco disponível caracteriza a dinâmica de pressão, não o deslocamento do cilindro.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5" title="imagem.png"/>
          <p:cNvPicPr preferRelativeResize="0"/>
          <p:nvPr/>
        </p:nvPicPr>
        <p:blipFill rotWithShape="1">
          <a:blip r:embed="rId3">
            <a:alphaModFix/>
          </a:blip>
          <a:srcRect b="10738" l="4029" r="21627" t="6474"/>
          <a:stretch/>
        </p:blipFill>
        <p:spPr>
          <a:xfrm>
            <a:off x="4572000" y="1903850"/>
            <a:ext cx="2579399" cy="249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0" y="0"/>
            <a:ext cx="121917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30338" y="484632"/>
            <a:ext cx="111189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1. Sensores, atuadores e elementos de proteção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6"/>
          <p:cNvCxnSpPr/>
          <p:nvPr/>
        </p:nvCxnSpPr>
        <p:spPr>
          <a:xfrm>
            <a:off x="530338" y="1019556"/>
            <a:ext cx="111372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6"/>
          <p:cNvSpPr/>
          <p:nvPr/>
        </p:nvSpPr>
        <p:spPr>
          <a:xfrm>
            <a:off x="685782" y="1353312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Elemento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4553591" y="1353312"/>
            <a:ext cx="676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Função no sistema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16"/>
          <p:cNvCxnSpPr/>
          <p:nvPr/>
        </p:nvCxnSpPr>
        <p:spPr>
          <a:xfrm>
            <a:off x="658350" y="1746504"/>
            <a:ext cx="108903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16"/>
          <p:cNvSpPr/>
          <p:nvPr/>
        </p:nvSpPr>
        <p:spPr>
          <a:xfrm>
            <a:off x="694925" y="1901952"/>
            <a:ext cx="3566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Transmissor de pressão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4553591" y="1892808"/>
            <a:ext cx="6784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Medição principal da pressão para realimentação da malha.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>
            <a:off x="658350" y="2688336"/>
            <a:ext cx="108903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16"/>
          <p:cNvSpPr/>
          <p:nvPr/>
        </p:nvSpPr>
        <p:spPr>
          <a:xfrm>
            <a:off x="694925" y="2834640"/>
            <a:ext cx="3566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Acionamento do compressor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4553591" y="2825496"/>
            <a:ext cx="6784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Atuação sobre a potência do motor; inversor ou estágio eletrônico conforme a motorização.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6"/>
          <p:cNvCxnSpPr/>
          <p:nvPr/>
        </p:nvCxnSpPr>
        <p:spPr>
          <a:xfrm>
            <a:off x="658350" y="3621024"/>
            <a:ext cx="108903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6"/>
          <p:cNvSpPr/>
          <p:nvPr/>
        </p:nvSpPr>
        <p:spPr>
          <a:xfrm>
            <a:off x="694925" y="3767328"/>
            <a:ext cx="3566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Sensores auxiliares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4553591" y="3758184"/>
            <a:ext cx="6784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Rotação, vazão e temperatura para monitoramento e diagnóstico.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16"/>
          <p:cNvCxnSpPr/>
          <p:nvPr/>
        </p:nvCxnSpPr>
        <p:spPr>
          <a:xfrm>
            <a:off x="658350" y="4553712"/>
            <a:ext cx="108903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16"/>
          <p:cNvSpPr/>
          <p:nvPr/>
        </p:nvSpPr>
        <p:spPr>
          <a:xfrm>
            <a:off x="694925" y="4700016"/>
            <a:ext cx="3566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Elementos de segurança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4553591" y="4690872"/>
            <a:ext cx="6784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Válvula de alívio, pressostato de alta pressão e parada de emergência.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6"/>
          <p:cNvCxnSpPr/>
          <p:nvPr/>
        </p:nvCxnSpPr>
        <p:spPr>
          <a:xfrm>
            <a:off x="658350" y="5486400"/>
            <a:ext cx="108903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/>
          <p:nvPr/>
        </p:nvSpPr>
        <p:spPr>
          <a:xfrm>
            <a:off x="0" y="0"/>
            <a:ext cx="121917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30338" y="484632"/>
            <a:ext cx="111189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2. Variáveis de controle e referência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17"/>
          <p:cNvCxnSpPr/>
          <p:nvPr/>
        </p:nvCxnSpPr>
        <p:spPr>
          <a:xfrm>
            <a:off x="530338" y="1019556"/>
            <a:ext cx="111372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17"/>
          <p:cNvCxnSpPr/>
          <p:nvPr/>
        </p:nvCxnSpPr>
        <p:spPr>
          <a:xfrm>
            <a:off x="470063" y="6073442"/>
            <a:ext cx="11137200" cy="0"/>
          </a:xfrm>
          <a:prstGeom prst="straightConnector1">
            <a:avLst/>
          </a:prstGeom>
          <a:noFill/>
          <a:ln cap="flat" cmpd="sng" w="9525">
            <a:solidFill>
              <a:srgbClr val="E5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17"/>
          <p:cNvSpPr/>
          <p:nvPr/>
        </p:nvSpPr>
        <p:spPr>
          <a:xfrm>
            <a:off x="608913" y="1243749"/>
            <a:ext cx="5102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Variável controlada  ·  PV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608913" y="1646085"/>
            <a:ext cx="508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200"/>
              <a:buFont typeface="Calibri"/>
              <a:buNone/>
            </a:pPr>
            <a:r>
              <a:rPr b="1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Pressão do circuito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2477763" y="1718925"/>
            <a:ext cx="5074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E80"/>
              </a:buClr>
              <a:buSzPts val="1400"/>
              <a:buFont typeface="Calibri"/>
              <a:buNone/>
            </a:pPr>
            <a:r>
              <a:rPr lang="en-US">
                <a:solidFill>
                  <a:srgbClr val="566E80"/>
                </a:solidFill>
                <a:latin typeface="Calibri"/>
                <a:ea typeface="Calibri"/>
                <a:cs typeface="Calibri"/>
                <a:sym typeface="Calibri"/>
              </a:rPr>
              <a:t>(bar)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6186604" y="1243749"/>
            <a:ext cx="5102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Variável manipulada  ·  MV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6186604" y="1646085"/>
            <a:ext cx="508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200"/>
              <a:buFont typeface="Calibri"/>
              <a:buNone/>
            </a:pPr>
            <a:r>
              <a:rPr b="1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Potência aplicada ao motor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8851204" y="1718925"/>
            <a:ext cx="5074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E80"/>
              </a:buClr>
              <a:buSzPts val="1400"/>
              <a:buFont typeface="Calibri"/>
              <a:buNone/>
            </a:pPr>
            <a:r>
              <a:rPr lang="en-US">
                <a:solidFill>
                  <a:srgbClr val="566E80"/>
                </a:solidFill>
                <a:latin typeface="Calibri"/>
                <a:ea typeface="Calibri"/>
                <a:cs typeface="Calibri"/>
                <a:sym typeface="Calibri"/>
              </a:rPr>
              <a:t>(%)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16382" y="2392955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Grandeza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4182447" y="2392955"/>
            <a:ext cx="690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Faixa caracterizada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17"/>
          <p:cNvCxnSpPr/>
          <p:nvPr/>
        </p:nvCxnSpPr>
        <p:spPr>
          <a:xfrm>
            <a:off x="588950" y="2749571"/>
            <a:ext cx="108810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7"/>
          <p:cNvSpPr/>
          <p:nvPr/>
        </p:nvSpPr>
        <p:spPr>
          <a:xfrm>
            <a:off x="625525" y="2877587"/>
            <a:ext cx="329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Comando de potência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4155003" y="2989637"/>
            <a:ext cx="69582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Escala de acionamento: 0–100%; ensaio: 0–50%.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17"/>
          <p:cNvCxnSpPr/>
          <p:nvPr/>
        </p:nvCxnSpPr>
        <p:spPr>
          <a:xfrm>
            <a:off x="598094" y="3618251"/>
            <a:ext cx="108720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17"/>
          <p:cNvSpPr/>
          <p:nvPr/>
        </p:nvSpPr>
        <p:spPr>
          <a:xfrm>
            <a:off x="625525" y="3860549"/>
            <a:ext cx="329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Limites físicos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4155003" y="3842299"/>
            <a:ext cx="69582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17"/>
          <p:cNvCxnSpPr/>
          <p:nvPr/>
        </p:nvCxnSpPr>
        <p:spPr>
          <a:xfrm>
            <a:off x="598094" y="4601213"/>
            <a:ext cx="108720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7"/>
          <p:cNvSpPr/>
          <p:nvPr/>
        </p:nvSpPr>
        <p:spPr>
          <a:xfrm>
            <a:off x="598107" y="4998898"/>
            <a:ext cx="594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Perturbações consideradas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88957" y="5410360"/>
            <a:ext cx="10560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Consumo de ar, vazamentos, variações de carga e condições de operação.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4155003" y="3979468"/>
            <a:ext cx="69582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A faixa de pressão comum de um cilindro pneumático fica entre 4 bar e 8 bar.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0" y="0"/>
            <a:ext cx="12191700" cy="2013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30352" y="283464"/>
            <a:ext cx="7955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DADOS EXPERIMENTAIS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30352" y="484632"/>
            <a:ext cx="11119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Ensaio da curva de reação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8"/>
          <p:cNvCxnSpPr/>
          <p:nvPr/>
        </p:nvCxnSpPr>
        <p:spPr>
          <a:xfrm>
            <a:off x="530352" y="1019556"/>
            <a:ext cx="11137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neumatica_revisao/assets/src_03_03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243464"/>
            <a:ext cx="7909560" cy="471854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/>
          <p:nvPr/>
        </p:nvSpPr>
        <p:spPr>
          <a:xfrm>
            <a:off x="8842248" y="1335024"/>
            <a:ext cx="2743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Condições de ensaio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8842248" y="183794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E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66E80"/>
                </a:solidFill>
                <a:latin typeface="Calibri"/>
                <a:ea typeface="Calibri"/>
                <a:cs typeface="Calibri"/>
                <a:sym typeface="Calibri"/>
              </a:rPr>
              <a:t>Estímulo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8842248" y="2103120"/>
            <a:ext cx="278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Degrau 0 → 50%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8842248" y="27432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E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66E80"/>
                </a:solidFill>
                <a:latin typeface="Calibri"/>
                <a:ea typeface="Calibri"/>
                <a:cs typeface="Calibri"/>
                <a:sym typeface="Calibri"/>
              </a:rPr>
              <a:t>Duração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8842248" y="3008376"/>
            <a:ext cx="278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200 s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8842248" y="364845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E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66E80"/>
                </a:solidFill>
                <a:latin typeface="Calibri"/>
                <a:ea typeface="Calibri"/>
                <a:cs typeface="Calibri"/>
                <a:sym typeface="Calibri"/>
              </a:rPr>
              <a:t>Amostragem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8842248" y="3913632"/>
            <a:ext cx="278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0,1 s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8842248" y="455371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E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66E80"/>
                </a:solidFill>
                <a:latin typeface="Calibri"/>
                <a:ea typeface="Calibri"/>
                <a:cs typeface="Calibri"/>
                <a:sym typeface="Calibri"/>
              </a:rPr>
              <a:t>Saída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842248" y="4818888"/>
            <a:ext cx="278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Pressão (bar)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621792" y="6217920"/>
            <a:ext cx="1088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39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18392"/>
                </a:solidFill>
                <a:latin typeface="Calibri"/>
                <a:ea typeface="Calibri"/>
                <a:cs typeface="Calibri"/>
                <a:sym typeface="Calibri"/>
              </a:rPr>
              <a:t>A curva apresenta regime transitório seguido de aproximação ao valor estacionário.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/>
          <p:nvPr/>
        </p:nvSpPr>
        <p:spPr>
          <a:xfrm>
            <a:off x="0" y="0"/>
            <a:ext cx="12191700" cy="2013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30352" y="283464"/>
            <a:ext cx="7955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IDENTIFICAÇÃO  ·  MODELO FOPDT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30352" y="484632"/>
            <a:ext cx="11119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Modelo de primeira ordem com tempo morto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19"/>
          <p:cNvCxnSpPr/>
          <p:nvPr/>
        </p:nvCxnSpPr>
        <p:spPr>
          <a:xfrm>
            <a:off x="530352" y="1019556"/>
            <a:ext cx="11137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9"/>
          <p:cNvSpPr/>
          <p:nvPr/>
        </p:nvSpPr>
        <p:spPr>
          <a:xfrm>
            <a:off x="685800" y="1389888"/>
            <a:ext cx="10698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O ensaio em malha aberta permite aproximar a dinâmica do processo por uma função de transferência de primeira ordem com atraso de transporte.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ptx_fix/formulas/math_001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8535" y="2473452"/>
            <a:ext cx="3476435" cy="72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/>
          <p:nvPr/>
        </p:nvSpPr>
        <p:spPr>
          <a:xfrm>
            <a:off x="1005840" y="3904488"/>
            <a:ext cx="960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1956816" y="3904488"/>
            <a:ext cx="892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Ganho estático da relação entrada</a:t>
            </a:r>
            <a:r>
              <a:rPr lang="en-US" sz="1800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saída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1005840" y="4462272"/>
            <a:ext cx="960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τ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1956816" y="4462272"/>
            <a:ext cx="892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Constante de tempo da dinâmica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1005840" y="5020056"/>
            <a:ext cx="960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1956816" y="5020056"/>
            <a:ext cx="892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Atraso de transporte (tempo morto)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21792" y="6217920"/>
            <a:ext cx="1088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39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18392"/>
                </a:solidFill>
                <a:latin typeface="Calibri"/>
                <a:ea typeface="Calibri"/>
                <a:cs typeface="Calibri"/>
                <a:sym typeface="Calibri"/>
              </a:rPr>
              <a:t>A identificação determina k, τ e θ a partir da resposta temporal ao degrau.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/>
        </p:nvSpPr>
        <p:spPr>
          <a:xfrm>
            <a:off x="530352" y="283464"/>
            <a:ext cx="7955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IDENTIFICAÇÃO  ·  CÁLCULO COMUM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30352" y="484632"/>
            <a:ext cx="11119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Ganho estático: variações de entrada e saída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20"/>
          <p:cNvCxnSpPr/>
          <p:nvPr/>
        </p:nvCxnSpPr>
        <p:spPr>
          <a:xfrm>
            <a:off x="530352" y="1019556"/>
            <a:ext cx="11137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ptx_fix/formulas/math_002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5002" y="1540764"/>
            <a:ext cx="536295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03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7594" y="2610612"/>
            <a:ext cx="710633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04.png" id="209" name="Google Shape;20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6816" y="3744468"/>
            <a:ext cx="5526176" cy="72237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777240" y="5157216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O ganho quantifica a variação estacionária da pressão para cada unidade percentual de comando.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21792" y="6217920"/>
            <a:ext cx="1088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39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18392"/>
                </a:solidFill>
                <a:latin typeface="Calibri"/>
                <a:ea typeface="Calibri"/>
                <a:cs typeface="Calibri"/>
                <a:sym typeface="Calibri"/>
              </a:rPr>
              <a:t>O cálculo de k utiliza as amostras sem arredondamento; valores exibidos acima são aproximados.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0" y="0"/>
            <a:ext cx="121920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/>
          <p:nvPr/>
        </p:nvSpPr>
        <p:spPr>
          <a:xfrm>
            <a:off x="530352" y="283464"/>
            <a:ext cx="7955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IDENTIFICAÇÃO  ·  MÉTODO DE SMITH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530352" y="484632"/>
            <a:ext cx="11119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Smith: níveis de referência e instantes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21"/>
          <p:cNvCxnSpPr/>
          <p:nvPr/>
        </p:nvCxnSpPr>
        <p:spPr>
          <a:xfrm>
            <a:off x="530352" y="1019556"/>
            <a:ext cx="11137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neumatica_revisao/assets/src_05_03.png"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6596"/>
            <a:ext cx="6629399" cy="3565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05.png" id="221" name="Google Shape;2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1824" y="1467612"/>
            <a:ext cx="396272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06.png" id="222" name="Google Shape;22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1824" y="2308860"/>
            <a:ext cx="3962720" cy="420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21"/>
          <p:cNvCxnSpPr/>
          <p:nvPr/>
        </p:nvCxnSpPr>
        <p:spPr>
          <a:xfrm>
            <a:off x="7443216" y="3108960"/>
            <a:ext cx="39960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21"/>
          <p:cNvSpPr/>
          <p:nvPr/>
        </p:nvSpPr>
        <p:spPr>
          <a:xfrm>
            <a:off x="7452360" y="3273552"/>
            <a:ext cx="388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Leituras na curva experimental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7443216" y="3749040"/>
            <a:ext cx="4014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t₁ = 21,90 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7443216" y="4261104"/>
            <a:ext cx="4014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t₂ = 41,70 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621792" y="6217920"/>
            <a:ext cx="1088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39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18392"/>
                </a:solidFill>
                <a:latin typeface="Calibri"/>
                <a:ea typeface="Calibri"/>
                <a:cs typeface="Calibri"/>
                <a:sym typeface="Calibri"/>
              </a:rPr>
              <a:t>Os níveis de 28,3% e 63,2% são definidos a partir da variação total da saída.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0" y="0"/>
            <a:ext cx="121920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/>
          <p:nvPr/>
        </p:nvSpPr>
        <p:spPr>
          <a:xfrm>
            <a:off x="530352" y="283464"/>
            <a:ext cx="7955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IDENTIFICAÇÃO  ·  MÉTODO DE SMITH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30352" y="484632"/>
            <a:ext cx="11119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Smith: determinação de τ e θ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22"/>
          <p:cNvCxnSpPr/>
          <p:nvPr/>
        </p:nvCxnSpPr>
        <p:spPr>
          <a:xfrm>
            <a:off x="530352" y="1019556"/>
            <a:ext cx="11137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ptx_fix/formulas/math_007.png"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156" y="1563624"/>
            <a:ext cx="2944367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08.png" id="237" name="Google Shape;2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8558" y="2345436"/>
            <a:ext cx="6021567" cy="420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22"/>
          <p:cNvCxnSpPr/>
          <p:nvPr/>
        </p:nvCxnSpPr>
        <p:spPr>
          <a:xfrm>
            <a:off x="1143000" y="3163824"/>
            <a:ext cx="99030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ptx_fix/formulas/math_009.png" id="239" name="Google Shape;23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8346" y="3547872"/>
            <a:ext cx="2181987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10.png" id="240" name="Google Shape;24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10397" y="4352544"/>
            <a:ext cx="5641310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/>
          <p:nvPr/>
        </p:nvSpPr>
        <p:spPr>
          <a:xfrm>
            <a:off x="1005840" y="5669280"/>
            <a:ext cx="102414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Parâmetros obtidos: k = 0,08814  ·  τ = 29,70 s  ·  θ = 12,00 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0" y="0"/>
            <a:ext cx="121920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/>
          <p:nvPr/>
        </p:nvSpPr>
        <p:spPr>
          <a:xfrm>
            <a:off x="530352" y="283464"/>
            <a:ext cx="7955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IDENTIFICAÇÃO  ·  MÉTODO DE SUNDARESAN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30352" y="484632"/>
            <a:ext cx="11119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Sundaresan: níveis de referência e instantes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23"/>
          <p:cNvCxnSpPr/>
          <p:nvPr/>
        </p:nvCxnSpPr>
        <p:spPr>
          <a:xfrm>
            <a:off x="530352" y="1019556"/>
            <a:ext cx="11137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neumatica_revisao/assets/src_06_03.png"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6596"/>
            <a:ext cx="6629399" cy="3565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11.png"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1824" y="1467612"/>
            <a:ext cx="396272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12.png" id="252" name="Google Shape;25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1824" y="2308860"/>
            <a:ext cx="3962720" cy="420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" name="Google Shape;253;p23"/>
          <p:cNvCxnSpPr/>
          <p:nvPr/>
        </p:nvCxnSpPr>
        <p:spPr>
          <a:xfrm>
            <a:off x="7443216" y="3108960"/>
            <a:ext cx="39960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23"/>
          <p:cNvSpPr/>
          <p:nvPr/>
        </p:nvSpPr>
        <p:spPr>
          <a:xfrm>
            <a:off x="7452360" y="3273552"/>
            <a:ext cx="388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Leituras na curva experimental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7443216" y="3749040"/>
            <a:ext cx="4014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t₁ = 26,30 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7443216" y="4261104"/>
            <a:ext cx="4014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t₂ = 63,70 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621792" y="6217920"/>
            <a:ext cx="1088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39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18392"/>
                </a:solidFill>
                <a:latin typeface="Calibri"/>
                <a:ea typeface="Calibri"/>
                <a:cs typeface="Calibri"/>
                <a:sym typeface="Calibri"/>
              </a:rPr>
              <a:t>A identificação emprega os níveis de 35,3% e 85,3% da variação final.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0" y="0"/>
            <a:ext cx="121920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"/>
          <p:cNvSpPr/>
          <p:nvPr/>
        </p:nvSpPr>
        <p:spPr>
          <a:xfrm>
            <a:off x="530352" y="283464"/>
            <a:ext cx="7955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IDENTIFICAÇÃO  ·  MÉTODO DE SUNDARESAN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530352" y="484632"/>
            <a:ext cx="11119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Sundaresan: determinação de τ e θ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24"/>
          <p:cNvCxnSpPr/>
          <p:nvPr/>
        </p:nvCxnSpPr>
        <p:spPr>
          <a:xfrm>
            <a:off x="530352" y="1019556"/>
            <a:ext cx="11137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ptx_fix/formulas/math_013.png" id="266" name="Google Shape;2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0242" y="1399032"/>
            <a:ext cx="1979325" cy="6126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14.png" id="267" name="Google Shape;26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9394" y="2121408"/>
            <a:ext cx="4908453" cy="722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24"/>
          <p:cNvCxnSpPr/>
          <p:nvPr/>
        </p:nvCxnSpPr>
        <p:spPr>
          <a:xfrm>
            <a:off x="1051560" y="3118104"/>
            <a:ext cx="100584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ptx_fix/formulas/math_015.png" id="269" name="Google Shape;26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4353" y="3545611"/>
            <a:ext cx="3312796" cy="36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16.png" id="270" name="Google Shape;27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89182" y="4338800"/>
            <a:ext cx="6274628" cy="3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/>
          <p:nvPr/>
        </p:nvSpPr>
        <p:spPr>
          <a:xfrm>
            <a:off x="822960" y="5687568"/>
            <a:ext cx="10607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Parâmetros obtidos: k = 0,08814  ·  τ = 24,93 s  ·  θ = 15,72 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0" y="0"/>
            <a:ext cx="121920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/>
          <p:nvPr/>
        </p:nvSpPr>
        <p:spPr>
          <a:xfrm>
            <a:off x="530352" y="283464"/>
            <a:ext cx="7955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IDENTIFICAÇÃO  ·  VALIDAÇÃO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30352" y="484632"/>
            <a:ext cx="11119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Comparação e seleção do modelo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25"/>
          <p:cNvCxnSpPr/>
          <p:nvPr/>
        </p:nvCxnSpPr>
        <p:spPr>
          <a:xfrm>
            <a:off x="530352" y="1019556"/>
            <a:ext cx="11137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neumatica_revisao/assets/src_07_03.png" id="280" name="Google Shape;2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496619"/>
            <a:ext cx="6784847" cy="382818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/>
          <p:nvPr/>
        </p:nvSpPr>
        <p:spPr>
          <a:xfrm>
            <a:off x="7333488" y="1271016"/>
            <a:ext cx="446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Erro quadrático médio (RMSE)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ptx_fix/formulas/math_017.png" id="282" name="Google Shape;28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7941" y="1796796"/>
            <a:ext cx="2195076" cy="722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25"/>
          <p:cNvCxnSpPr/>
          <p:nvPr/>
        </p:nvCxnSpPr>
        <p:spPr>
          <a:xfrm>
            <a:off x="7434072" y="2889504"/>
            <a:ext cx="4096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25"/>
          <p:cNvSpPr/>
          <p:nvPr/>
        </p:nvSpPr>
        <p:spPr>
          <a:xfrm>
            <a:off x="7434072" y="3145536"/>
            <a:ext cx="2039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E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66E80"/>
                </a:solidFill>
                <a:latin typeface="Calibri"/>
                <a:ea typeface="Calibri"/>
                <a:cs typeface="Calibri"/>
                <a:sym typeface="Calibri"/>
              </a:rPr>
              <a:t>Smith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7434072" y="3429000"/>
            <a:ext cx="3886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0,1472 bar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7434072" y="4078224"/>
            <a:ext cx="295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E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66E80"/>
                </a:solidFill>
                <a:latin typeface="Calibri"/>
                <a:ea typeface="Calibri"/>
                <a:cs typeface="Calibri"/>
                <a:sym typeface="Calibri"/>
              </a:rPr>
              <a:t>Sundaresan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7434072" y="4361688"/>
            <a:ext cx="3886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0,1587 bar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832104" y="5824728"/>
            <a:ext cx="1024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Modelo adotado: Smith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621792" y="6217920"/>
            <a:ext cx="1088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39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18392"/>
                </a:solidFill>
                <a:latin typeface="Calibri"/>
                <a:ea typeface="Calibri"/>
                <a:cs typeface="Calibri"/>
                <a:sym typeface="Calibri"/>
              </a:rPr>
              <a:t>Menor RMSE indica maior proximidade entre os valores previstos e as amostras do ensaio.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0" y="0"/>
            <a:ext cx="121920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"/>
          <p:cNvSpPr/>
          <p:nvPr/>
        </p:nvSpPr>
        <p:spPr>
          <a:xfrm>
            <a:off x="530352" y="283464"/>
            <a:ext cx="7955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MODELAGEM  ·  FOPDT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30352" y="484632"/>
            <a:ext cx="11119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Função de transferência identificada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26"/>
          <p:cNvCxnSpPr/>
          <p:nvPr/>
        </p:nvCxnSpPr>
        <p:spPr>
          <a:xfrm>
            <a:off x="530352" y="1019556"/>
            <a:ext cx="11137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26"/>
          <p:cNvSpPr/>
          <p:nvPr/>
        </p:nvSpPr>
        <p:spPr>
          <a:xfrm>
            <a:off x="722376" y="1307592"/>
            <a:ext cx="105612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O ajuste selecionado representa o comportamento dinâmico da planta por um modelo de primeira ordem com atraso de transporte.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ptx_fix/formulas/math_018.png" id="299" name="Google Shape;2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528" y="2272284"/>
            <a:ext cx="2085040" cy="722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19.png" id="300" name="Google Shape;30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9288" y="3561588"/>
            <a:ext cx="2873800" cy="722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26"/>
          <p:cNvCxnSpPr/>
          <p:nvPr/>
        </p:nvCxnSpPr>
        <p:spPr>
          <a:xfrm>
            <a:off x="941832" y="4654296"/>
            <a:ext cx="102870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ptx_fix/formulas/math_020.png" id="302" name="Google Shape;30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7185" y="4992624"/>
            <a:ext cx="2118006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6"/>
          <p:cNvSpPr/>
          <p:nvPr/>
        </p:nvSpPr>
        <p:spPr>
          <a:xfrm>
            <a:off x="713232" y="5678424"/>
            <a:ext cx="10881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E8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66E80"/>
                </a:solidFill>
                <a:latin typeface="Calibri"/>
                <a:ea typeface="Calibri"/>
                <a:cs typeface="Calibri"/>
                <a:sym typeface="Calibri"/>
              </a:rPr>
              <a:t>Fator de incontrolabilidade associado à participação do atraso na dinâmica.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0" y="0"/>
            <a:ext cx="121920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/>
          <p:nvPr/>
        </p:nvSpPr>
        <p:spPr>
          <a:xfrm>
            <a:off x="0" y="0"/>
            <a:ext cx="121917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7"/>
          <p:cNvSpPr/>
          <p:nvPr/>
        </p:nvSpPr>
        <p:spPr>
          <a:xfrm>
            <a:off x="530338" y="283464"/>
            <a:ext cx="7955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MODELAGEM  ·  SIMULAÇÃO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530338" y="484632"/>
            <a:ext cx="111189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Aproximação racional do atraso por Padé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27"/>
          <p:cNvCxnSpPr/>
          <p:nvPr/>
        </p:nvCxnSpPr>
        <p:spPr>
          <a:xfrm>
            <a:off x="530338" y="1019556"/>
            <a:ext cx="111372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27"/>
          <p:cNvSpPr/>
          <p:nvPr/>
        </p:nvSpPr>
        <p:spPr>
          <a:xfrm>
            <a:off x="685782" y="1225296"/>
            <a:ext cx="108078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Para simular a função de transferência em Python, o atraso puro foi representado pela aproximação de Padé de primeira ordem.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ptx_fix/formulas/math_021.png" id="315" name="Google Shape;3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6377" y="2071116"/>
            <a:ext cx="3442720" cy="7223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22.png" id="316" name="Google Shape;31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6985" y="3296412"/>
            <a:ext cx="3903799" cy="7223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23.png" id="317" name="Google Shape;31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0183" y="4553712"/>
            <a:ext cx="4777405" cy="72235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7"/>
          <p:cNvSpPr/>
          <p:nvPr/>
        </p:nvSpPr>
        <p:spPr>
          <a:xfrm>
            <a:off x="621775" y="6217920"/>
            <a:ext cx="10881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39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18392"/>
                </a:solidFill>
                <a:latin typeface="Calibri"/>
                <a:ea typeface="Calibri"/>
                <a:cs typeface="Calibri"/>
                <a:sym typeface="Calibri"/>
              </a:rPr>
              <a:t>A aproximação preserva o ganho estacionário e permite simular a resposta pelo modelo racional.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/>
          <p:nvPr/>
        </p:nvSpPr>
        <p:spPr>
          <a:xfrm>
            <a:off x="0" y="0"/>
            <a:ext cx="121917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530338" y="283464"/>
            <a:ext cx="7955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ANÁLISE  ·  MALHAS DE CONTROLE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530338" y="484632"/>
            <a:ext cx="111189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Comportamento em malha aberta e malha fechada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28"/>
          <p:cNvCxnSpPr/>
          <p:nvPr/>
        </p:nvCxnSpPr>
        <p:spPr>
          <a:xfrm>
            <a:off x="530338" y="1019556"/>
            <a:ext cx="111372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neumatica_revisao/assets/src_09_03.png" id="328" name="Google Shape;32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488" y="1871589"/>
            <a:ext cx="7351581" cy="3133027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8"/>
          <p:cNvSpPr/>
          <p:nvPr/>
        </p:nvSpPr>
        <p:spPr>
          <a:xfrm>
            <a:off x="8247668" y="1408176"/>
            <a:ext cx="292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Malha aberta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ptx_fix/formulas/math_024.png" id="330" name="Google Shape;33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05558" y="1897380"/>
            <a:ext cx="3165664" cy="420613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8"/>
          <p:cNvSpPr/>
          <p:nvPr/>
        </p:nvSpPr>
        <p:spPr>
          <a:xfrm>
            <a:off x="8247668" y="2770632"/>
            <a:ext cx="3227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Malha fechada unitária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ptx_fix/formulas/math_025.png" id="332" name="Google Shape;33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3598" y="3191256"/>
            <a:ext cx="2843318" cy="72235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8"/>
          <p:cNvSpPr/>
          <p:nvPr/>
        </p:nvSpPr>
        <p:spPr>
          <a:xfrm>
            <a:off x="8183662" y="4370832"/>
            <a:ext cx="33834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A realimentação altera a resposta e o ganho, mas não elimina o erro em regime permanente sem ação integral.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621775" y="6217920"/>
            <a:ext cx="10881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39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18392"/>
                </a:solidFill>
                <a:latin typeface="Calibri"/>
                <a:ea typeface="Calibri"/>
                <a:cs typeface="Calibri"/>
                <a:sym typeface="Calibri"/>
              </a:rPr>
              <a:t>Análise matemática do modelo antes da inserção do controlador PID.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/>
          <p:nvPr/>
        </p:nvSpPr>
        <p:spPr>
          <a:xfrm>
            <a:off x="0" y="0"/>
            <a:ext cx="121917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9"/>
          <p:cNvSpPr/>
          <p:nvPr/>
        </p:nvSpPr>
        <p:spPr>
          <a:xfrm>
            <a:off x="530338" y="283464"/>
            <a:ext cx="7955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ANÁLISE  ·  MALHAS DE CONTROLE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530338" y="484632"/>
            <a:ext cx="111189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Métricas transitórias do processo sem PID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29"/>
          <p:cNvCxnSpPr/>
          <p:nvPr/>
        </p:nvCxnSpPr>
        <p:spPr>
          <a:xfrm>
            <a:off x="530338" y="1019556"/>
            <a:ext cx="111372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29"/>
          <p:cNvSpPr/>
          <p:nvPr/>
        </p:nvSpPr>
        <p:spPr>
          <a:xfrm>
            <a:off x="731501" y="1426464"/>
            <a:ext cx="4892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Indicador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9"/>
          <p:cNvSpPr/>
          <p:nvPr/>
        </p:nvSpPr>
        <p:spPr>
          <a:xfrm>
            <a:off x="6455492" y="1417320"/>
            <a:ext cx="2157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Malha aberta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9"/>
          <p:cNvSpPr/>
          <p:nvPr/>
        </p:nvSpPr>
        <p:spPr>
          <a:xfrm>
            <a:off x="9280913" y="1417320"/>
            <a:ext cx="2157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Malha fechada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29"/>
          <p:cNvCxnSpPr/>
          <p:nvPr/>
        </p:nvCxnSpPr>
        <p:spPr>
          <a:xfrm>
            <a:off x="713213" y="1819656"/>
            <a:ext cx="107439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29"/>
          <p:cNvSpPr/>
          <p:nvPr/>
        </p:nvSpPr>
        <p:spPr>
          <a:xfrm>
            <a:off x="740644" y="1993392"/>
            <a:ext cx="5257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Tempo de subida  ·  tr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6455492" y="1993392"/>
            <a:ext cx="21762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67,01 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9271769" y="1993392"/>
            <a:ext cx="2112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59,07 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29"/>
          <p:cNvCxnSpPr/>
          <p:nvPr/>
        </p:nvCxnSpPr>
        <p:spPr>
          <a:xfrm>
            <a:off x="713213" y="2596896"/>
            <a:ext cx="107349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29"/>
          <p:cNvSpPr/>
          <p:nvPr/>
        </p:nvSpPr>
        <p:spPr>
          <a:xfrm>
            <a:off x="740644" y="2807208"/>
            <a:ext cx="5257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Tempo de acomodação  ·  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6455492" y="2807208"/>
            <a:ext cx="21762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129,05 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9"/>
          <p:cNvSpPr/>
          <p:nvPr/>
        </p:nvSpPr>
        <p:spPr>
          <a:xfrm>
            <a:off x="9271769" y="2807208"/>
            <a:ext cx="2112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114,66 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29"/>
          <p:cNvCxnSpPr/>
          <p:nvPr/>
        </p:nvCxnSpPr>
        <p:spPr>
          <a:xfrm>
            <a:off x="713213" y="3410712"/>
            <a:ext cx="107349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29"/>
          <p:cNvSpPr/>
          <p:nvPr/>
        </p:nvSpPr>
        <p:spPr>
          <a:xfrm>
            <a:off x="740644" y="3621024"/>
            <a:ext cx="5257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Sobressinal  ·  Mp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6455492" y="3621024"/>
            <a:ext cx="21762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0,0%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9271769" y="3621024"/>
            <a:ext cx="2112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0,0%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29"/>
          <p:cNvCxnSpPr/>
          <p:nvPr/>
        </p:nvCxnSpPr>
        <p:spPr>
          <a:xfrm>
            <a:off x="713213" y="4224528"/>
            <a:ext cx="107349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29"/>
          <p:cNvSpPr/>
          <p:nvPr/>
        </p:nvSpPr>
        <p:spPr>
          <a:xfrm>
            <a:off x="740644" y="4434840"/>
            <a:ext cx="5257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Valor final simulado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6455492" y="4434840"/>
            <a:ext cx="21762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≈ 4,41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9271769" y="4434840"/>
            <a:ext cx="2112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≈ 4,05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29"/>
          <p:cNvCxnSpPr/>
          <p:nvPr/>
        </p:nvCxnSpPr>
        <p:spPr>
          <a:xfrm>
            <a:off x="713213" y="5038344"/>
            <a:ext cx="107349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ptx_fix/formulas/math_026.png" id="364" name="Google Shape;36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4047" y="5376672"/>
            <a:ext cx="6587967" cy="640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"/>
          <p:cNvSpPr/>
          <p:nvPr/>
        </p:nvSpPr>
        <p:spPr>
          <a:xfrm>
            <a:off x="0" y="0"/>
            <a:ext cx="121917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0"/>
          <p:cNvSpPr/>
          <p:nvPr/>
        </p:nvSpPr>
        <p:spPr>
          <a:xfrm>
            <a:off x="530338" y="283464"/>
            <a:ext cx="7955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CONTROLE  ·  FUNÇÃO DE TRANSFERÊNCIA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0"/>
          <p:cNvSpPr/>
          <p:nvPr/>
        </p:nvSpPr>
        <p:spPr>
          <a:xfrm>
            <a:off x="530338" y="484632"/>
            <a:ext cx="111189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Estrutura do controlador PID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30"/>
          <p:cNvCxnSpPr/>
          <p:nvPr/>
        </p:nvCxnSpPr>
        <p:spPr>
          <a:xfrm>
            <a:off x="530338" y="1019556"/>
            <a:ext cx="111372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30"/>
          <p:cNvSpPr/>
          <p:nvPr/>
        </p:nvSpPr>
        <p:spPr>
          <a:xfrm>
            <a:off x="667494" y="1298448"/>
            <a:ext cx="10881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O controlador atua sobre o erro entre a referência e a variável medida, combinando ações proporcional, integral e derivativa.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ptx_fix/formulas/math_027.png" id="375" name="Google Shape;37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2802" y="2372868"/>
            <a:ext cx="4287032" cy="7223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28.png" id="376" name="Google Shape;37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1945" y="3566160"/>
            <a:ext cx="4908743" cy="7223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7" name="Google Shape;377;p30"/>
          <p:cNvCxnSpPr/>
          <p:nvPr/>
        </p:nvCxnSpPr>
        <p:spPr>
          <a:xfrm>
            <a:off x="804651" y="4654296"/>
            <a:ext cx="10588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30"/>
          <p:cNvSpPr/>
          <p:nvPr/>
        </p:nvSpPr>
        <p:spPr>
          <a:xfrm>
            <a:off x="841226" y="5010912"/>
            <a:ext cx="102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Kp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0"/>
          <p:cNvSpPr/>
          <p:nvPr/>
        </p:nvSpPr>
        <p:spPr>
          <a:xfrm>
            <a:off x="1892758" y="5010912"/>
            <a:ext cx="2267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Ganho proporcional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4425578" y="5010912"/>
            <a:ext cx="83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Ti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5285091" y="5010912"/>
            <a:ext cx="1892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Tempo integral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0"/>
          <p:cNvSpPr/>
          <p:nvPr/>
        </p:nvSpPr>
        <p:spPr>
          <a:xfrm>
            <a:off x="7470449" y="5010912"/>
            <a:ext cx="84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Td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0"/>
          <p:cNvSpPr/>
          <p:nvPr/>
        </p:nvSpPr>
        <p:spPr>
          <a:xfrm>
            <a:off x="8393968" y="5010912"/>
            <a:ext cx="2871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Tempo derivativo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0"/>
          <p:cNvSpPr/>
          <p:nvPr/>
        </p:nvSpPr>
        <p:spPr>
          <a:xfrm>
            <a:off x="621775" y="6217920"/>
            <a:ext cx="10881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39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18392"/>
                </a:solidFill>
                <a:latin typeface="Calibri"/>
                <a:ea typeface="Calibri"/>
                <a:cs typeface="Calibri"/>
                <a:sym typeface="Calibri"/>
              </a:rPr>
              <a:t>Os parâmetros são obtidos a partir de k, τ e θ identificados na planta.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1"/>
          <p:cNvSpPr/>
          <p:nvPr/>
        </p:nvSpPr>
        <p:spPr>
          <a:xfrm>
            <a:off x="0" y="0"/>
            <a:ext cx="121917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1"/>
          <p:cNvSpPr/>
          <p:nvPr/>
        </p:nvSpPr>
        <p:spPr>
          <a:xfrm>
            <a:off x="530338" y="283464"/>
            <a:ext cx="7955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CONTROLE  ·  MÉTODO DO MODELO INTERNO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530338" y="484632"/>
            <a:ext cx="111189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Sintonia IMC: escolha do parâmetro λ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31"/>
          <p:cNvCxnSpPr/>
          <p:nvPr/>
        </p:nvCxnSpPr>
        <p:spPr>
          <a:xfrm>
            <a:off x="530338" y="1019556"/>
            <a:ext cx="111372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31"/>
          <p:cNvSpPr/>
          <p:nvPr/>
        </p:nvSpPr>
        <p:spPr>
          <a:xfrm>
            <a:off x="758932" y="1325880"/>
            <a:ext cx="10716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O parâmetro λ estabelece o compromisso entre velocidade de resposta e sensibilidade às perturbações.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ptx_fix/formulas/math_029.png" id="395" name="Google Shape;39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2825" y="2212848"/>
            <a:ext cx="1040102" cy="5943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30.png" id="396" name="Google Shape;39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7605" y="3227832"/>
            <a:ext cx="5423691" cy="4206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x_fix/formulas/math_031.png" id="397" name="Google Shape;39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7738" y="4069080"/>
            <a:ext cx="5884007" cy="713213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1"/>
          <p:cNvSpPr/>
          <p:nvPr/>
        </p:nvSpPr>
        <p:spPr>
          <a:xfrm>
            <a:off x="914376" y="5513832"/>
            <a:ext cx="10286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Estimativa de acomodação pelo critério IMC:  ts ≈ 4λ = 40 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2"/>
          <p:cNvSpPr/>
          <p:nvPr/>
        </p:nvSpPr>
        <p:spPr>
          <a:xfrm>
            <a:off x="0" y="0"/>
            <a:ext cx="121917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2"/>
          <p:cNvSpPr/>
          <p:nvPr/>
        </p:nvSpPr>
        <p:spPr>
          <a:xfrm>
            <a:off x="530338" y="283464"/>
            <a:ext cx="7955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CONTROLE  ·  MÉTODO DO MODELO INTERNO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530338" y="484632"/>
            <a:ext cx="111189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Sintonia IMC: cálculo dos parâmetros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32"/>
          <p:cNvCxnSpPr/>
          <p:nvPr/>
        </p:nvCxnSpPr>
        <p:spPr>
          <a:xfrm>
            <a:off x="530338" y="1019556"/>
            <a:ext cx="111372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ptx_fix/formulas/math_032.png" id="408" name="Google Shape;40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5807" y="1376172"/>
            <a:ext cx="6255300" cy="7223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9" name="Google Shape;409;p32"/>
          <p:cNvCxnSpPr/>
          <p:nvPr/>
        </p:nvCxnSpPr>
        <p:spPr>
          <a:xfrm>
            <a:off x="832082" y="2359152"/>
            <a:ext cx="104970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ptx_fix/formulas/math_033.png" id="410" name="Google Shape;41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7815" y="2779776"/>
            <a:ext cx="5381556" cy="7223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1" name="Google Shape;411;p32"/>
          <p:cNvCxnSpPr/>
          <p:nvPr/>
        </p:nvCxnSpPr>
        <p:spPr>
          <a:xfrm>
            <a:off x="832082" y="3877056"/>
            <a:ext cx="104970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ptx_fix/formulas/math_034.png" id="412" name="Google Shape;41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3341" y="4251960"/>
            <a:ext cx="4979649" cy="722357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2"/>
          <p:cNvSpPr/>
          <p:nvPr/>
        </p:nvSpPr>
        <p:spPr>
          <a:xfrm>
            <a:off x="731500" y="5760720"/>
            <a:ext cx="10707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Kp = 25,31  ·  Ti = 35,70 s  ·  Td = 4,99 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"/>
          <p:cNvSpPr/>
          <p:nvPr/>
        </p:nvSpPr>
        <p:spPr>
          <a:xfrm>
            <a:off x="0" y="0"/>
            <a:ext cx="121917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3"/>
          <p:cNvSpPr/>
          <p:nvPr/>
        </p:nvSpPr>
        <p:spPr>
          <a:xfrm>
            <a:off x="530338" y="283464"/>
            <a:ext cx="7955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CONTROLE  ·  MÉTODO CHR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3"/>
          <p:cNvSpPr/>
          <p:nvPr/>
        </p:nvSpPr>
        <p:spPr>
          <a:xfrm>
            <a:off x="530338" y="484632"/>
            <a:ext cx="111189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Sintonia CHR sem sobrevalor: parâmetros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33"/>
          <p:cNvCxnSpPr/>
          <p:nvPr/>
        </p:nvCxnSpPr>
        <p:spPr>
          <a:xfrm>
            <a:off x="530338" y="1019556"/>
            <a:ext cx="111372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ptx_fix/formulas/math_035.png" id="423" name="Google Shape;4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7402" y="1403604"/>
            <a:ext cx="4564678" cy="7223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4" name="Google Shape;424;p33"/>
          <p:cNvCxnSpPr/>
          <p:nvPr/>
        </p:nvCxnSpPr>
        <p:spPr>
          <a:xfrm>
            <a:off x="877801" y="2423160"/>
            <a:ext cx="10405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ptx_fix/formulas/math_036.png" id="425" name="Google Shape;42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9371" y="2953512"/>
            <a:ext cx="3340160" cy="4206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6" name="Google Shape;426;p33"/>
          <p:cNvCxnSpPr/>
          <p:nvPr/>
        </p:nvCxnSpPr>
        <p:spPr>
          <a:xfrm>
            <a:off x="877801" y="3867912"/>
            <a:ext cx="10405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ptx_fix/formulas/math_037.png" id="427" name="Google Shape;427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4710" y="4233672"/>
            <a:ext cx="3431193" cy="722357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3"/>
          <p:cNvSpPr/>
          <p:nvPr/>
        </p:nvSpPr>
        <p:spPr>
          <a:xfrm>
            <a:off x="722357" y="5769864"/>
            <a:ext cx="1075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Kp = 16,85  ·  Ti = 29,70 s  ·  Td = 6,00 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4"/>
          <p:cNvSpPr/>
          <p:nvPr/>
        </p:nvSpPr>
        <p:spPr>
          <a:xfrm>
            <a:off x="0" y="0"/>
            <a:ext cx="121917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4"/>
          <p:cNvSpPr/>
          <p:nvPr/>
        </p:nvSpPr>
        <p:spPr>
          <a:xfrm>
            <a:off x="530338" y="283464"/>
            <a:ext cx="7955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SIMULAÇÃO  ·  IMC E CHR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4"/>
          <p:cNvSpPr/>
          <p:nvPr/>
        </p:nvSpPr>
        <p:spPr>
          <a:xfrm>
            <a:off x="530338" y="484632"/>
            <a:ext cx="111189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Resposta ao degrau com os controladores PID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" name="Google Shape;437;p34"/>
          <p:cNvCxnSpPr/>
          <p:nvPr/>
        </p:nvCxnSpPr>
        <p:spPr>
          <a:xfrm>
            <a:off x="530338" y="1019556"/>
            <a:ext cx="111372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neumatica_revisao/assets/sim_pid_comparacao.png" id="438" name="Google Shape;43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00" y="1587897"/>
            <a:ext cx="7735618" cy="393813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4"/>
          <p:cNvSpPr/>
          <p:nvPr/>
        </p:nvSpPr>
        <p:spPr>
          <a:xfrm>
            <a:off x="8585987" y="1408176"/>
            <a:ext cx="299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IMC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8595131" y="1801368"/>
            <a:ext cx="2907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Acomodação ≈ 43,8 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" name="Google Shape;441;p34"/>
          <p:cNvCxnSpPr/>
          <p:nvPr/>
        </p:nvCxnSpPr>
        <p:spPr>
          <a:xfrm>
            <a:off x="8576843" y="2651760"/>
            <a:ext cx="2953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34"/>
          <p:cNvSpPr/>
          <p:nvPr/>
        </p:nvSpPr>
        <p:spPr>
          <a:xfrm>
            <a:off x="8585987" y="2916936"/>
            <a:ext cx="29808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6E5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66E55"/>
                </a:solidFill>
                <a:latin typeface="Calibri"/>
                <a:ea typeface="Calibri"/>
                <a:cs typeface="Calibri"/>
                <a:sym typeface="Calibri"/>
              </a:rPr>
              <a:t>CHR sem sobrevalor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8595131" y="3310128"/>
            <a:ext cx="29262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Acomodação ≈ 103,7 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4" name="Google Shape;444;p34"/>
          <p:cNvCxnSpPr/>
          <p:nvPr/>
        </p:nvCxnSpPr>
        <p:spPr>
          <a:xfrm>
            <a:off x="8567700" y="4325112"/>
            <a:ext cx="29628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" name="Google Shape;445;p34"/>
          <p:cNvSpPr/>
          <p:nvPr/>
        </p:nvSpPr>
        <p:spPr>
          <a:xfrm>
            <a:off x="8595131" y="4590288"/>
            <a:ext cx="2834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O CHR apresenta sobressinal residual. O transiente inicial negativo é efeito do modelo de Padé com derivada ideal.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4"/>
          <p:cNvSpPr/>
          <p:nvPr/>
        </p:nvSpPr>
        <p:spPr>
          <a:xfrm>
            <a:off x="621775" y="6217920"/>
            <a:ext cx="10881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39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18392"/>
                </a:solidFill>
                <a:latin typeface="Calibri"/>
                <a:ea typeface="Calibri"/>
                <a:cs typeface="Calibri"/>
                <a:sym typeface="Calibri"/>
              </a:rPr>
              <a:t>Referência simulada r = 50 em escala computacional; não representa pressão de 50 bar.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5"/>
          <p:cNvSpPr/>
          <p:nvPr/>
        </p:nvSpPr>
        <p:spPr>
          <a:xfrm>
            <a:off x="0" y="0"/>
            <a:ext cx="121917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5"/>
          <p:cNvSpPr/>
          <p:nvPr/>
        </p:nvSpPr>
        <p:spPr>
          <a:xfrm>
            <a:off x="530338" y="283464"/>
            <a:ext cx="7955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SIMULAÇÃO  ·  AVALIAÇÃO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5"/>
          <p:cNvSpPr/>
          <p:nvPr/>
        </p:nvSpPr>
        <p:spPr>
          <a:xfrm>
            <a:off x="530338" y="484632"/>
            <a:ext cx="111189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Desempenho transitório e critério de seleção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" name="Google Shape;455;p35"/>
          <p:cNvCxnSpPr/>
          <p:nvPr/>
        </p:nvCxnSpPr>
        <p:spPr>
          <a:xfrm>
            <a:off x="530338" y="1019556"/>
            <a:ext cx="111372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" name="Google Shape;456;p35"/>
          <p:cNvSpPr/>
          <p:nvPr/>
        </p:nvSpPr>
        <p:spPr>
          <a:xfrm>
            <a:off x="667494" y="1344168"/>
            <a:ext cx="4526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Indicador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5"/>
          <p:cNvSpPr/>
          <p:nvPr/>
        </p:nvSpPr>
        <p:spPr>
          <a:xfrm>
            <a:off x="5467966" y="1344168"/>
            <a:ext cx="2048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IMC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5"/>
          <p:cNvSpPr/>
          <p:nvPr/>
        </p:nvSpPr>
        <p:spPr>
          <a:xfrm>
            <a:off x="8110512" y="1344168"/>
            <a:ext cx="21306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6E5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66E55"/>
                </a:solidFill>
                <a:latin typeface="Calibri"/>
                <a:ea typeface="Calibri"/>
                <a:cs typeface="Calibri"/>
                <a:sym typeface="Calibri"/>
              </a:rPr>
              <a:t>CHR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9" name="Google Shape;459;p35"/>
          <p:cNvCxnSpPr/>
          <p:nvPr/>
        </p:nvCxnSpPr>
        <p:spPr>
          <a:xfrm>
            <a:off x="667494" y="1746504"/>
            <a:ext cx="9838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0" name="Google Shape;460;p35"/>
          <p:cNvSpPr/>
          <p:nvPr/>
        </p:nvSpPr>
        <p:spPr>
          <a:xfrm>
            <a:off x="704069" y="1911096"/>
            <a:ext cx="469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Tempo de subida (tr)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5"/>
          <p:cNvSpPr/>
          <p:nvPr/>
        </p:nvSpPr>
        <p:spPr>
          <a:xfrm>
            <a:off x="5486254" y="1911096"/>
            <a:ext cx="1975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22,0 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5"/>
          <p:cNvSpPr/>
          <p:nvPr/>
        </p:nvSpPr>
        <p:spPr>
          <a:xfrm>
            <a:off x="8137943" y="1911096"/>
            <a:ext cx="199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34,9 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35"/>
          <p:cNvCxnSpPr/>
          <p:nvPr/>
        </p:nvCxnSpPr>
        <p:spPr>
          <a:xfrm>
            <a:off x="667494" y="2487168"/>
            <a:ext cx="9838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p35"/>
          <p:cNvSpPr/>
          <p:nvPr/>
        </p:nvSpPr>
        <p:spPr>
          <a:xfrm>
            <a:off x="704069" y="2651760"/>
            <a:ext cx="469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Tempo de acomodação (ts)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5"/>
          <p:cNvSpPr/>
          <p:nvPr/>
        </p:nvSpPr>
        <p:spPr>
          <a:xfrm>
            <a:off x="5486254" y="2651760"/>
            <a:ext cx="1975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43,8 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5"/>
          <p:cNvSpPr/>
          <p:nvPr/>
        </p:nvSpPr>
        <p:spPr>
          <a:xfrm>
            <a:off x="8137943" y="2651760"/>
            <a:ext cx="199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103,7 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35"/>
          <p:cNvCxnSpPr/>
          <p:nvPr/>
        </p:nvCxnSpPr>
        <p:spPr>
          <a:xfrm>
            <a:off x="667494" y="3227832"/>
            <a:ext cx="98385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35"/>
          <p:cNvSpPr/>
          <p:nvPr/>
        </p:nvSpPr>
        <p:spPr>
          <a:xfrm>
            <a:off x="704069" y="4901184"/>
            <a:ext cx="6400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7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4B70"/>
                </a:solidFill>
                <a:latin typeface="Calibri"/>
                <a:ea typeface="Calibri"/>
                <a:cs typeface="Calibri"/>
                <a:sym typeface="Calibri"/>
              </a:rPr>
              <a:t>Critério principal: menor tempo de resposta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5"/>
          <p:cNvSpPr/>
          <p:nvPr/>
        </p:nvSpPr>
        <p:spPr>
          <a:xfrm>
            <a:off x="704069" y="5394960"/>
            <a:ext cx="65010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O IMC apresenta menor tempo de subida e acomodação para o modelo adotado.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6"/>
          <p:cNvSpPr/>
          <p:nvPr/>
        </p:nvSpPr>
        <p:spPr>
          <a:xfrm>
            <a:off x="0" y="0"/>
            <a:ext cx="121917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6"/>
          <p:cNvSpPr/>
          <p:nvPr/>
        </p:nvSpPr>
        <p:spPr>
          <a:xfrm>
            <a:off x="530338" y="283464"/>
            <a:ext cx="7955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IMPLEMENTAÇÃO  ·  INTERFACE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6"/>
          <p:cNvSpPr/>
          <p:nvPr/>
        </p:nvSpPr>
        <p:spPr>
          <a:xfrm>
            <a:off x="530338" y="484632"/>
            <a:ext cx="111189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Comparação dos erros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8" name="Google Shape;478;p36"/>
          <p:cNvCxnSpPr/>
          <p:nvPr/>
        </p:nvCxnSpPr>
        <p:spPr>
          <a:xfrm>
            <a:off x="530338" y="1019556"/>
            <a:ext cx="111372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36"/>
          <p:cNvSpPr/>
          <p:nvPr/>
        </p:nvSpPr>
        <p:spPr>
          <a:xfrm>
            <a:off x="254925" y="2474450"/>
            <a:ext cx="2627100" cy="1149000"/>
          </a:xfrm>
          <a:prstGeom prst="rect">
            <a:avLst/>
          </a:prstGeom>
          <a:solidFill>
            <a:srgbClr val="FFFFFF"/>
          </a:solidFill>
          <a:ln cap="flat" cmpd="sng" w="11500">
            <a:solidFill>
              <a:srgbClr val="CE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475" lIns="75475" spcFirstLastPara="1" rIns="75475" wrap="square" tIns="75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6"/>
          <p:cNvSpPr/>
          <p:nvPr/>
        </p:nvSpPr>
        <p:spPr>
          <a:xfrm>
            <a:off x="254925" y="2474450"/>
            <a:ext cx="2627100" cy="377400"/>
          </a:xfrm>
          <a:prstGeom prst="rect">
            <a:avLst/>
          </a:prstGeom>
          <a:solidFill>
            <a:srgbClr val="1B4B70"/>
          </a:solidFill>
          <a:ln cap="flat" cmpd="sng" w="10475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475" lIns="75475" spcFirstLastPara="1" rIns="75475" wrap="square" tIns="75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6"/>
          <p:cNvSpPr/>
          <p:nvPr/>
        </p:nvSpPr>
        <p:spPr>
          <a:xfrm>
            <a:off x="375709" y="2572589"/>
            <a:ext cx="2340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i="0" lang="en-US" sz="11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</a:t>
            </a:r>
            <a:r>
              <a:rPr b="1" lang="en-U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MALHA ABERTA </a:t>
            </a:r>
            <a:endParaRPr b="0" i="0" sz="11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6"/>
          <p:cNvSpPr/>
          <p:nvPr/>
        </p:nvSpPr>
        <p:spPr>
          <a:xfrm>
            <a:off x="383258" y="3002892"/>
            <a:ext cx="2332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238"/>
              <a:buFont typeface="Calibri"/>
              <a:buNone/>
            </a:pPr>
            <a:r>
              <a:rPr b="0" i="0" lang="en-US" sz="123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45.601515324406215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483" name="Google Shape;483;p36"/>
          <p:cNvSpPr/>
          <p:nvPr/>
        </p:nvSpPr>
        <p:spPr>
          <a:xfrm>
            <a:off x="3278925" y="2474450"/>
            <a:ext cx="2627100" cy="1149000"/>
          </a:xfrm>
          <a:prstGeom prst="rect">
            <a:avLst/>
          </a:prstGeom>
          <a:solidFill>
            <a:srgbClr val="FFFFFF"/>
          </a:solidFill>
          <a:ln cap="flat" cmpd="sng" w="11500">
            <a:solidFill>
              <a:srgbClr val="CE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475" lIns="75475" spcFirstLastPara="1" rIns="75475" wrap="square" tIns="75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6"/>
          <p:cNvSpPr/>
          <p:nvPr/>
        </p:nvSpPr>
        <p:spPr>
          <a:xfrm>
            <a:off x="3278933" y="2474450"/>
            <a:ext cx="2627100" cy="377400"/>
          </a:xfrm>
          <a:prstGeom prst="rect">
            <a:avLst/>
          </a:prstGeom>
          <a:solidFill>
            <a:srgbClr val="1B4B70"/>
          </a:solidFill>
          <a:ln cap="flat" cmpd="sng" w="10475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475" lIns="75475" spcFirstLastPara="1" rIns="75475" wrap="square" tIns="75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6"/>
          <p:cNvSpPr/>
          <p:nvPr/>
        </p:nvSpPr>
        <p:spPr>
          <a:xfrm>
            <a:off x="3399717" y="2572589"/>
            <a:ext cx="2340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i="0" lang="en-US" sz="11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</a:t>
            </a:r>
            <a:r>
              <a:rPr b="1" lang="en-U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MALHA FECHADA</a:t>
            </a:r>
            <a:endParaRPr b="0" i="0" sz="11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6"/>
          <p:cNvSpPr/>
          <p:nvPr/>
        </p:nvSpPr>
        <p:spPr>
          <a:xfrm>
            <a:off x="3407266" y="3002892"/>
            <a:ext cx="2332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238"/>
              <a:buFont typeface="Calibri"/>
              <a:buNone/>
            </a:pPr>
            <a:r>
              <a:rPr b="0" i="0" lang="en-US" sz="123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45.958953292181256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6"/>
          <p:cNvSpPr/>
          <p:nvPr/>
        </p:nvSpPr>
        <p:spPr>
          <a:xfrm>
            <a:off x="6182150" y="2474450"/>
            <a:ext cx="2627100" cy="1149000"/>
          </a:xfrm>
          <a:prstGeom prst="rect">
            <a:avLst/>
          </a:prstGeom>
          <a:solidFill>
            <a:srgbClr val="FFFFFF"/>
          </a:solidFill>
          <a:ln cap="flat" cmpd="sng" w="11500">
            <a:solidFill>
              <a:srgbClr val="CE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475" lIns="75475" spcFirstLastPara="1" rIns="75475" wrap="square" tIns="75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6"/>
          <p:cNvSpPr/>
          <p:nvPr/>
        </p:nvSpPr>
        <p:spPr>
          <a:xfrm>
            <a:off x="6182143" y="2474450"/>
            <a:ext cx="2627100" cy="377400"/>
          </a:xfrm>
          <a:prstGeom prst="rect">
            <a:avLst/>
          </a:prstGeom>
          <a:solidFill>
            <a:srgbClr val="1B4B70"/>
          </a:solidFill>
          <a:ln cap="flat" cmpd="sng" w="10475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475" lIns="75475" spcFirstLastPara="1" rIns="75475" wrap="square" tIns="75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6"/>
          <p:cNvSpPr/>
          <p:nvPr/>
        </p:nvSpPr>
        <p:spPr>
          <a:xfrm>
            <a:off x="6302927" y="2572589"/>
            <a:ext cx="2340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i="0" lang="en-US" sz="11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C</a:t>
            </a:r>
            <a:r>
              <a:rPr b="1" lang="en-U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ONTROLADOR IMC</a:t>
            </a:r>
            <a:endParaRPr b="0" i="0" sz="11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6"/>
          <p:cNvSpPr/>
          <p:nvPr/>
        </p:nvSpPr>
        <p:spPr>
          <a:xfrm>
            <a:off x="6310476" y="3002892"/>
            <a:ext cx="2332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238"/>
              <a:buFont typeface="Calibri"/>
              <a:buNone/>
            </a:pPr>
            <a:r>
              <a:rPr b="0" i="0" lang="en-US" sz="123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1.1368683772161603e-13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6"/>
          <p:cNvSpPr/>
          <p:nvPr/>
        </p:nvSpPr>
        <p:spPr>
          <a:xfrm>
            <a:off x="9206125" y="2474450"/>
            <a:ext cx="2627100" cy="1149000"/>
          </a:xfrm>
          <a:prstGeom prst="rect">
            <a:avLst/>
          </a:prstGeom>
          <a:solidFill>
            <a:srgbClr val="FFFFFF"/>
          </a:solidFill>
          <a:ln cap="flat" cmpd="sng" w="11500">
            <a:solidFill>
              <a:srgbClr val="CE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475" lIns="75475" spcFirstLastPara="1" rIns="75475" wrap="square" tIns="75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6"/>
          <p:cNvSpPr/>
          <p:nvPr/>
        </p:nvSpPr>
        <p:spPr>
          <a:xfrm>
            <a:off x="9206129" y="2474450"/>
            <a:ext cx="2627100" cy="377400"/>
          </a:xfrm>
          <a:prstGeom prst="rect">
            <a:avLst/>
          </a:prstGeom>
          <a:solidFill>
            <a:srgbClr val="1B4B70"/>
          </a:solidFill>
          <a:ln cap="flat" cmpd="sng" w="10475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475" lIns="75475" spcFirstLastPara="1" rIns="75475" wrap="square" tIns="75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6"/>
          <p:cNvSpPr/>
          <p:nvPr/>
        </p:nvSpPr>
        <p:spPr>
          <a:xfrm>
            <a:off x="9326913" y="2572589"/>
            <a:ext cx="2340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lang="en-U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CONTROLADOR CHR</a:t>
            </a:r>
            <a:endParaRPr b="0" i="0" sz="11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6"/>
          <p:cNvSpPr/>
          <p:nvPr/>
        </p:nvSpPr>
        <p:spPr>
          <a:xfrm>
            <a:off x="9334462" y="3002892"/>
            <a:ext cx="2332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238"/>
              <a:buFont typeface="Calibri"/>
              <a:buNone/>
            </a:pPr>
            <a:r>
              <a:rPr b="0" i="0" lang="en-US" sz="123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2.5427615206297105e-05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/>
          <p:nvPr/>
        </p:nvSpPr>
        <p:spPr>
          <a:xfrm>
            <a:off x="0" y="0"/>
            <a:ext cx="12191700" cy="173700"/>
          </a:xfrm>
          <a:prstGeom prst="rect">
            <a:avLst/>
          </a:prstGeom>
          <a:solidFill>
            <a:srgbClr val="1B4B70"/>
          </a:solidFill>
          <a:ln cap="flat" cmpd="sng" w="12700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7"/>
          <p:cNvSpPr/>
          <p:nvPr/>
        </p:nvSpPr>
        <p:spPr>
          <a:xfrm>
            <a:off x="530338" y="283464"/>
            <a:ext cx="7955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3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638E"/>
                </a:solidFill>
                <a:latin typeface="Calibri"/>
                <a:ea typeface="Calibri"/>
                <a:cs typeface="Calibri"/>
                <a:sym typeface="Calibri"/>
              </a:rPr>
              <a:t>IMPLEMENTAÇÃO  ·  INTERFACE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7"/>
          <p:cNvSpPr/>
          <p:nvPr/>
        </p:nvSpPr>
        <p:spPr>
          <a:xfrm>
            <a:off x="530338" y="484632"/>
            <a:ext cx="111189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Interface homem-máquina: supervisão e sintonia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37"/>
          <p:cNvCxnSpPr/>
          <p:nvPr/>
        </p:nvCxnSpPr>
        <p:spPr>
          <a:xfrm>
            <a:off x="530338" y="1019556"/>
            <a:ext cx="11137200" cy="0"/>
          </a:xfrm>
          <a:prstGeom prst="straightConnector1">
            <a:avLst/>
          </a:prstGeom>
          <a:noFill/>
          <a:ln cap="flat" cmpd="sng" w="12700">
            <a:solidFill>
              <a:srgbClr val="D9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37"/>
          <p:cNvSpPr/>
          <p:nvPr/>
        </p:nvSpPr>
        <p:spPr>
          <a:xfrm>
            <a:off x="704069" y="1280160"/>
            <a:ext cx="10680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A interface organiza a seleção dos dados, a identificação do modelo e a parametrização do controlador em módulos independentes.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7"/>
          <p:cNvSpPr/>
          <p:nvPr/>
        </p:nvSpPr>
        <p:spPr>
          <a:xfrm>
            <a:off x="976775" y="2474449"/>
            <a:ext cx="2927700" cy="2877300"/>
          </a:xfrm>
          <a:prstGeom prst="rect">
            <a:avLst/>
          </a:prstGeom>
          <a:solidFill>
            <a:srgbClr val="FFFFFF"/>
          </a:solidFill>
          <a:ln cap="flat" cmpd="sng" w="12825">
            <a:solidFill>
              <a:srgbClr val="CE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7"/>
          <p:cNvSpPr/>
          <p:nvPr/>
        </p:nvSpPr>
        <p:spPr>
          <a:xfrm>
            <a:off x="976775" y="2474449"/>
            <a:ext cx="2927700" cy="420600"/>
          </a:xfrm>
          <a:prstGeom prst="rect">
            <a:avLst/>
          </a:prstGeom>
          <a:solidFill>
            <a:srgbClr val="1B4B70"/>
          </a:solidFill>
          <a:ln cap="flat" cmpd="sng" w="11675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7"/>
          <p:cNvSpPr/>
          <p:nvPr/>
        </p:nvSpPr>
        <p:spPr>
          <a:xfrm>
            <a:off x="1111385" y="2583822"/>
            <a:ext cx="2608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8"/>
              <a:buFont typeface="Calibri"/>
              <a:buNone/>
            </a:pPr>
            <a:r>
              <a:rPr b="1" i="0" lang="en-US" sz="128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IDENTIFICAÇÃO</a:t>
            </a:r>
            <a:endParaRPr b="0" i="0" sz="12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7"/>
          <p:cNvSpPr/>
          <p:nvPr/>
        </p:nvSpPr>
        <p:spPr>
          <a:xfrm>
            <a:off x="1119798" y="3063379"/>
            <a:ext cx="259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380"/>
              <a:buFont typeface="Calibri"/>
              <a:buNone/>
            </a:pPr>
            <a:r>
              <a:rPr b="0" i="0" lang="en-US" sz="138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•  Seleção do conjunto de dados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7"/>
          <p:cNvSpPr/>
          <p:nvPr/>
        </p:nvSpPr>
        <p:spPr>
          <a:xfrm>
            <a:off x="1119798" y="3517697"/>
            <a:ext cx="259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380"/>
              <a:buFont typeface="Calibri"/>
              <a:buNone/>
            </a:pPr>
            <a:r>
              <a:rPr b="0" i="0" lang="en-US" sz="138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•  Smith / Sundaresan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7"/>
          <p:cNvSpPr/>
          <p:nvPr/>
        </p:nvSpPr>
        <p:spPr>
          <a:xfrm>
            <a:off x="1119798" y="3972014"/>
            <a:ext cx="259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380"/>
              <a:buFont typeface="Calibri"/>
              <a:buNone/>
            </a:pPr>
            <a:r>
              <a:rPr b="0" i="0" lang="en-US" sz="138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•  k, τ, θ e RMSE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7"/>
          <p:cNvSpPr/>
          <p:nvPr/>
        </p:nvSpPr>
        <p:spPr>
          <a:xfrm>
            <a:off x="1119798" y="4426332"/>
            <a:ext cx="259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380"/>
              <a:buFont typeface="Calibri"/>
              <a:buNone/>
            </a:pPr>
            <a:r>
              <a:rPr b="0" i="0" lang="en-US" sz="138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•  Curva experimental × modelo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7"/>
          <p:cNvSpPr/>
          <p:nvPr/>
        </p:nvSpPr>
        <p:spPr>
          <a:xfrm>
            <a:off x="4510285" y="2474449"/>
            <a:ext cx="2927700" cy="2877300"/>
          </a:xfrm>
          <a:prstGeom prst="rect">
            <a:avLst/>
          </a:prstGeom>
          <a:solidFill>
            <a:srgbClr val="FFFFFF"/>
          </a:solidFill>
          <a:ln cap="flat" cmpd="sng" w="12825">
            <a:solidFill>
              <a:srgbClr val="CE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7"/>
          <p:cNvSpPr/>
          <p:nvPr/>
        </p:nvSpPr>
        <p:spPr>
          <a:xfrm>
            <a:off x="4510285" y="2474449"/>
            <a:ext cx="2927700" cy="420600"/>
          </a:xfrm>
          <a:prstGeom prst="rect">
            <a:avLst/>
          </a:prstGeom>
          <a:solidFill>
            <a:srgbClr val="1B4B70"/>
          </a:solidFill>
          <a:ln cap="flat" cmpd="sng" w="11675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7"/>
          <p:cNvSpPr/>
          <p:nvPr/>
        </p:nvSpPr>
        <p:spPr>
          <a:xfrm>
            <a:off x="4644894" y="2583822"/>
            <a:ext cx="2608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8"/>
              <a:buFont typeface="Calibri"/>
              <a:buNone/>
            </a:pPr>
            <a:r>
              <a:rPr b="1" i="0" lang="en-US" sz="128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CONTROLE PID</a:t>
            </a:r>
            <a:endParaRPr b="0" i="0" sz="12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7"/>
          <p:cNvSpPr/>
          <p:nvPr/>
        </p:nvSpPr>
        <p:spPr>
          <a:xfrm>
            <a:off x="4653308" y="3063379"/>
            <a:ext cx="259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380"/>
              <a:buFont typeface="Calibri"/>
              <a:buNone/>
            </a:pPr>
            <a:r>
              <a:rPr b="0" i="0" lang="en-US" sz="138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•  Sintonia IMC ou CHR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7"/>
          <p:cNvSpPr/>
          <p:nvPr/>
        </p:nvSpPr>
        <p:spPr>
          <a:xfrm>
            <a:off x="4653308" y="3517697"/>
            <a:ext cx="259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380"/>
              <a:buFont typeface="Calibri"/>
              <a:buNone/>
            </a:pPr>
            <a:r>
              <a:rPr b="0" i="0" lang="en-US" sz="138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•  Parâmetros Kp, Ti e Td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7"/>
          <p:cNvSpPr/>
          <p:nvPr/>
        </p:nvSpPr>
        <p:spPr>
          <a:xfrm>
            <a:off x="4653308" y="3972014"/>
            <a:ext cx="259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380"/>
              <a:buFont typeface="Calibri"/>
              <a:buNone/>
            </a:pPr>
            <a:r>
              <a:rPr b="0" i="0" lang="en-US" sz="138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•  Setpoint e modo manual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7"/>
          <p:cNvSpPr/>
          <p:nvPr/>
        </p:nvSpPr>
        <p:spPr>
          <a:xfrm>
            <a:off x="4653308" y="4426332"/>
            <a:ext cx="259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380"/>
              <a:buFont typeface="Calibri"/>
              <a:buNone/>
            </a:pPr>
            <a:r>
              <a:rPr b="0" i="0" lang="en-US" sz="138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•  Curva temporal de resposta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7"/>
          <p:cNvSpPr/>
          <p:nvPr/>
        </p:nvSpPr>
        <p:spPr>
          <a:xfrm>
            <a:off x="8026968" y="2474449"/>
            <a:ext cx="2927700" cy="2877300"/>
          </a:xfrm>
          <a:prstGeom prst="rect">
            <a:avLst/>
          </a:prstGeom>
          <a:solidFill>
            <a:srgbClr val="FFFFFF"/>
          </a:solidFill>
          <a:ln cap="flat" cmpd="sng" w="12825">
            <a:solidFill>
              <a:srgbClr val="CE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7"/>
          <p:cNvSpPr/>
          <p:nvPr/>
        </p:nvSpPr>
        <p:spPr>
          <a:xfrm>
            <a:off x="8026968" y="2474449"/>
            <a:ext cx="2927700" cy="420600"/>
          </a:xfrm>
          <a:prstGeom prst="rect">
            <a:avLst/>
          </a:prstGeom>
          <a:solidFill>
            <a:srgbClr val="1B4B70"/>
          </a:solidFill>
          <a:ln cap="flat" cmpd="sng" w="11675">
            <a:solidFill>
              <a:srgbClr val="1B4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7"/>
          <p:cNvSpPr/>
          <p:nvPr/>
        </p:nvSpPr>
        <p:spPr>
          <a:xfrm>
            <a:off x="8161578" y="2583822"/>
            <a:ext cx="2608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8"/>
              <a:buFont typeface="Calibri"/>
              <a:buNone/>
            </a:pPr>
            <a:r>
              <a:rPr b="1" i="0" lang="en-US" sz="128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COMPARAÇÃO</a:t>
            </a:r>
            <a:endParaRPr b="0" i="0" sz="12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7"/>
          <p:cNvSpPr/>
          <p:nvPr/>
        </p:nvSpPr>
        <p:spPr>
          <a:xfrm>
            <a:off x="8169991" y="3063379"/>
            <a:ext cx="259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380"/>
              <a:buFont typeface="Calibri"/>
              <a:buNone/>
            </a:pPr>
            <a:r>
              <a:rPr b="0" i="0" lang="en-US" sz="138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•  tr, ts e Mp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7"/>
          <p:cNvSpPr/>
          <p:nvPr/>
        </p:nvSpPr>
        <p:spPr>
          <a:xfrm>
            <a:off x="8169991" y="3517697"/>
            <a:ext cx="259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380"/>
              <a:buFont typeface="Calibri"/>
              <a:buNone/>
            </a:pPr>
            <a:r>
              <a:rPr b="0" i="0" lang="en-US" sz="138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•  Sobreposição das curvas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7"/>
          <p:cNvSpPr/>
          <p:nvPr/>
        </p:nvSpPr>
        <p:spPr>
          <a:xfrm>
            <a:off x="8169991" y="3972014"/>
            <a:ext cx="259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380"/>
              <a:buFont typeface="Calibri"/>
              <a:buNone/>
            </a:pPr>
            <a:r>
              <a:rPr b="0" i="0" lang="en-US" sz="138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•  Análise do desempenho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7"/>
          <p:cNvSpPr/>
          <p:nvPr/>
        </p:nvSpPr>
        <p:spPr>
          <a:xfrm>
            <a:off x="8169991" y="4426332"/>
            <a:ext cx="259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84B"/>
              </a:buClr>
              <a:buSzPts val="1380"/>
              <a:buFont typeface="Calibri"/>
              <a:buNone/>
            </a:pPr>
            <a:r>
              <a:rPr b="0" i="0" lang="en-US" sz="1380" u="none" cap="none" strike="noStrike">
                <a:solidFill>
                  <a:srgbClr val="22384B"/>
                </a:solidFill>
                <a:latin typeface="Calibri"/>
                <a:ea typeface="Calibri"/>
                <a:cs typeface="Calibri"/>
                <a:sym typeface="Calibri"/>
              </a:rPr>
              <a:t>•  Exportação de resultados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7"/>
          <p:cNvSpPr/>
          <p:nvPr/>
        </p:nvSpPr>
        <p:spPr>
          <a:xfrm>
            <a:off x="621775" y="6217920"/>
            <a:ext cx="10881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39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18392"/>
                </a:solidFill>
                <a:latin typeface="Calibri"/>
                <a:ea typeface="Calibri"/>
                <a:cs typeface="Calibri"/>
                <a:sym typeface="Calibri"/>
              </a:rPr>
              <a:t>Estrutura funcional em Python: parametrização, visualização das respostas e exportação.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